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3" r:id="rId9"/>
    <p:sldId id="262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20995"/>
    <p:restoredTop sz="89803"/>
  </p:normalViewPr>
  <p:slideViewPr>
    <p:cSldViewPr snapToGrid="0">
      <p:cViewPr varScale="1">
        <p:scale>
          <a:sx n="93" d="100"/>
          <a:sy n="93" d="100"/>
        </p:scale>
        <p:origin x="232" y="9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604E2C-FB5D-DF49-B9DB-38A0729A6DBC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C8FD40-F627-EC47-A01F-F67D0C134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974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lvl="0" indent="-228600">
              <a:buFont typeface="Arial" panose="020B0604020202020204" pitchFamily="34" charset="0"/>
              <a:buChar char="•"/>
            </a:pPr>
            <a:r>
              <a:rPr lang="en-US" dirty="0"/>
              <a:t>all the new tools and methods can feel overwhelming</a:t>
            </a:r>
          </a:p>
          <a:p>
            <a:pPr marL="228600" lvl="0" indent="-228600">
              <a:buFont typeface="Arial" panose="020B0604020202020204" pitchFamily="34" charset="0"/>
              <a:buChar char="•"/>
            </a:pPr>
            <a:r>
              <a:rPr lang="en-US" dirty="0"/>
              <a:t>what it feels like: it’s a giant hill and it feels like everyone else has a head start</a:t>
            </a:r>
          </a:p>
          <a:p>
            <a:pPr marL="228600" lvl="0" indent="-228600">
              <a:buFont typeface="Arial" panose="020B0604020202020204" pitchFamily="34" charset="0"/>
              <a:buChar char="•"/>
            </a:pPr>
            <a:r>
              <a:rPr lang="en-US" dirty="0"/>
              <a:t>the reality: 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its become way easier for people who don’t have a background in computer science to do some really cool stuff</a:t>
            </a:r>
          </a:p>
          <a:p>
            <a:pPr marL="228600" lvl="0" indent="-228600">
              <a:buFont typeface="Arial" panose="020B0604020202020204" pitchFamily="34" charset="0"/>
              <a:buChar char="•"/>
            </a:pPr>
            <a:r>
              <a:rPr lang="en-US" dirty="0"/>
              <a:t>in behavioral sciences: 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machine learning has always been a great set of tools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newer deep learning architectures are really well suited for our work, given the complexity (and parallelism) inherent to many of our questions</a:t>
            </a:r>
          </a:p>
          <a:p>
            <a:pPr marL="228600" lvl="0" indent="-228600">
              <a:buFont typeface="Arial" panose="020B0604020202020204" pitchFamily="34" charset="0"/>
              <a:buChar char="•"/>
            </a:pPr>
            <a:r>
              <a:rPr lang="en-US" dirty="0"/>
              <a:t>our goal today: give you a “road in” to a set of tools that can help you incorporate some of these methods into your research</a:t>
            </a:r>
          </a:p>
          <a:p>
            <a:pPr marL="228600" lvl="0" indent="-228600">
              <a:buFont typeface="Arial" panose="020B0604020202020204" pitchFamily="34" charset="0"/>
              <a:buChar char="•"/>
            </a:pPr>
            <a:r>
              <a:rPr lang="en-US" dirty="0"/>
              <a:t>take what you like, leave the rest!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C8FD40-F627-EC47-A01F-F67D0C1345B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5097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Notebooks instead!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C8FD40-F627-EC47-A01F-F67D0C1345B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2122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your project will always work, </a:t>
            </a:r>
            <a:r>
              <a:rPr lang="en-US" dirty="0" err="1"/>
              <a:t>bc</a:t>
            </a:r>
            <a:r>
              <a:rPr lang="en-US" dirty="0"/>
              <a:t> it can be packaged w/ the old version of Python!</a:t>
            </a:r>
          </a:p>
          <a:p>
            <a:pPr marL="171450" indent="-171450">
              <a:buFontTx/>
              <a:buChar char="-"/>
            </a:pPr>
            <a:r>
              <a:rPr lang="en-US" dirty="0"/>
              <a:t>you can send the whole project to someone else and they can install it, and it will have everything it needs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C8FD40-F627-EC47-A01F-F67D0C1345B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9168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251BE-9B78-4F0F-3DFC-A28501E430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C6058F-1B1D-6C22-2B43-A31A7D4643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4FFDE4-1E29-C39E-1D72-49C2D4815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FA0B7-51BE-5643-8BD2-D957ED3DD859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A36C7C-9497-10BB-EFAD-FE3C292F3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00DEA6-4CCE-A709-4D32-580706CB6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A97E3-78B1-2C4F-A88A-9978D14CC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57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05827-EFCC-DF6B-A9AD-AEC9AA59A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58A71-6C6C-1C5E-A4F0-E57DB2B02C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F078C-C00C-A0EA-B490-DE3D6FB6C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FA0B7-51BE-5643-8BD2-D957ED3DD859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4A9712-FEFC-DA17-43DF-4E811A07A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DA57F-F4B4-07AB-6E6C-64F05474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A97E3-78B1-2C4F-A88A-9978D14CC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683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0ADF6-7157-54A3-2EDA-4A48E242B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88A35C-3CB9-ACB8-157D-59C368FDFB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8B07B-6388-E82B-75AF-EA347B11C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FA0B7-51BE-5643-8BD2-D957ED3DD859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E33DC-2C82-6F50-22BE-E41620AE4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25C59-54E9-7C1B-8DF8-0243F181C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A97E3-78B1-2C4F-A88A-9978D14CC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047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B650E-B5BF-7532-F909-4D533218D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F9745-6E09-BC1F-8FC2-451EABDCAD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2DC0C0-A683-FDA2-F7FE-4DB0690D25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5351E4-7CDE-3686-61B0-F5B4BD5A6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FA0B7-51BE-5643-8BD2-D957ED3DD859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45BD43-F774-884D-A571-953CDB9DC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1E95D5-B0E5-5EA6-ABAA-AF5B437CC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A97E3-78B1-2C4F-A88A-9978D14CC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966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49934-77DA-7C13-95E4-99772BBA2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1DBA37-6277-9E72-4A3D-E961B046A9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D2AF03-F317-BDE6-14A5-35A0D093B3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AC6D78-6491-6C4A-5BDF-85E48C2996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B54193-2EA8-238D-1791-12902095FC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21BE80-28C9-2C0D-5C76-9370A79AC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FA0B7-51BE-5643-8BD2-D957ED3DD859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43CCFE-58A1-0C77-5607-30F025A29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40B512-785B-D07A-E817-AA2CADDA7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A97E3-78B1-2C4F-A88A-9978D14CC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891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3FD75-4DC7-194F-2FDB-C9CF29E15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FDE245-BBAD-5FD8-BA27-1EBE59673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FA0B7-51BE-5643-8BD2-D957ED3DD859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A4C3FC-CF13-2120-CBBA-D753FB05E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1980E8-F29D-5466-2E09-E38BCEBE3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A97E3-78B1-2C4F-A88A-9978D14CC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667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AF2527-9855-7DA6-DC24-8420B709C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FA0B7-51BE-5643-8BD2-D957ED3DD859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E0CB94-E58A-350A-DB71-03F56B377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1B48B0-527C-5F9B-F327-30ACCB7B3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A97E3-78B1-2C4F-A88A-9978D14CC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87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AC6E7-B121-4800-4D26-ED08EEB22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BA5A8-92C6-1F49-EA61-A08A06786F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098B63-0C21-08F6-8323-2CA1D80506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EBD7F8-8E81-12BF-2A55-ED214179D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FA0B7-51BE-5643-8BD2-D957ED3DD859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39E167-2920-7B7F-9EEC-D704A67D9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113E6E-EDDB-EF22-2E38-F4F489A79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A97E3-78B1-2C4F-A88A-9978D14CC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557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7AEB8-6B8C-9AEA-27E0-EB89FCC31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0C8452-0C4F-7BD9-2F75-68389AF68AC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185902-4BD1-8CD4-429E-C38D035AAA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E79573-FB48-B206-23FF-AAAEA3E57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FA0B7-51BE-5643-8BD2-D957ED3DD859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0A7BC7-4CE5-1AE6-8C60-C9B0089EC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1D2093-1557-3C41-9A6C-46029EC49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A97E3-78B1-2C4F-A88A-9978D14CC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362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BC072-3644-642A-145B-A45B25139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480906-AD81-5826-E02B-9F1BE293AC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C65DB-CF96-0508-62F5-23C037BB7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FA0B7-51BE-5643-8BD2-D957ED3DD859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41552-6D3E-93EC-902A-15CED7EE7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266976-267E-4664-A4D2-160C85B9C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A97E3-78B1-2C4F-A88A-9978D14CC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803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AD05D7-EB67-103D-8E7C-E586A67F03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323378-BD2C-713E-A5E2-B526644366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0C7D17-ABBD-8833-32F0-4A822138C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FA0B7-51BE-5643-8BD2-D957ED3DD859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EBBD2D-32AF-7CF4-5857-13E3CB9BF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08B0F5-733C-B9B3-D4F1-1BEB47F34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A97E3-78B1-2C4F-A88A-9978D14CC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625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1B2158-D486-FA19-5866-800E6BFC4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8F5AD7-26A4-E17E-1E57-12312C8B13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153185-C1DF-BD78-001F-0EB7C787A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7FA0B7-51BE-5643-8BD2-D957ED3DD859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570228-D363-5F3C-C19B-1FD058DF0C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702A5-3BE1-7425-ACA5-DE8C28467C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BA97E3-78B1-2C4F-A88A-9978D14CC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34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CED4F-50D1-F1BF-E260-0A3213C327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4460"/>
            <a:ext cx="9144000" cy="2387600"/>
          </a:xfrm>
        </p:spPr>
        <p:txBody>
          <a:bodyPr/>
          <a:lstStyle/>
          <a:p>
            <a:r>
              <a:rPr lang="en-US" dirty="0"/>
              <a:t>Computational Tools Workshop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64ECD4-BADC-7953-FA5C-78E68957AE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734135"/>
            <a:ext cx="9144000" cy="1655762"/>
          </a:xfrm>
        </p:spPr>
        <p:txBody>
          <a:bodyPr/>
          <a:lstStyle/>
          <a:p>
            <a:r>
              <a:rPr lang="en-US" dirty="0"/>
              <a:t>Session 1: Getting Started</a:t>
            </a:r>
          </a:p>
        </p:txBody>
      </p:sp>
      <p:pic>
        <p:nvPicPr>
          <p:cNvPr id="4" name="Content Placeholder 10">
            <a:extLst>
              <a:ext uri="{FF2B5EF4-FFF2-40B4-BE49-F238E27FC236}">
                <a16:creationId xmlns:a16="http://schemas.microsoft.com/office/drawing/2014/main" id="{380BE82D-A967-CBEE-445A-0062CADF17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0249" y="3686034"/>
            <a:ext cx="4731502" cy="3143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753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AD69C7B-83DE-0F5C-E192-5ACA4B0A94C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48638" y="1414837"/>
            <a:ext cx="5181600" cy="1744216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9FE47B97-86C6-E3F2-6134-8F545E122D3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657062" y="714755"/>
            <a:ext cx="4686300" cy="24003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4ECB6E7-5F1C-EBD1-70D4-8D89A64B0F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8703" y="3761994"/>
            <a:ext cx="2851747" cy="2851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584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BF38E-55BC-CD29-4DDE-AE27EC1E2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Python?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35D3B-9DF3-7044-F821-1C420349EA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8" y="1690688"/>
            <a:ext cx="6605955" cy="4885957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Open source (free)</a:t>
            </a:r>
          </a:p>
          <a:p>
            <a:endParaRPr lang="en-US" dirty="0"/>
          </a:p>
          <a:p>
            <a:r>
              <a:rPr lang="en-US" dirty="0"/>
              <a:t>This is where scientific software development is happening</a:t>
            </a:r>
          </a:p>
          <a:p>
            <a:pPr lvl="1"/>
            <a:r>
              <a:rPr lang="en-US" dirty="0"/>
              <a:t>brain imaging analysis software</a:t>
            </a:r>
          </a:p>
          <a:p>
            <a:pPr lvl="1"/>
            <a:r>
              <a:rPr lang="en-US" dirty="0"/>
              <a:t>physio analysis</a:t>
            </a:r>
          </a:p>
          <a:p>
            <a:pPr lvl="1"/>
            <a:r>
              <a:rPr lang="en-US" dirty="0"/>
              <a:t>data science (mining public databases, etc.)</a:t>
            </a:r>
          </a:p>
          <a:p>
            <a:pPr lvl="1"/>
            <a:r>
              <a:rPr lang="en-US" dirty="0"/>
              <a:t>deep learning</a:t>
            </a:r>
          </a:p>
          <a:p>
            <a:pPr lvl="1"/>
            <a:endParaRPr lang="en-US" dirty="0"/>
          </a:p>
          <a:p>
            <a:r>
              <a:rPr lang="en-US" dirty="0"/>
              <a:t>Python is used all over the place!</a:t>
            </a:r>
          </a:p>
          <a:p>
            <a:pPr lvl="1"/>
            <a:r>
              <a:rPr lang="en-US" dirty="0"/>
              <a:t>more likely to be useful to students outside of academia</a:t>
            </a:r>
          </a:p>
          <a:p>
            <a:pPr lvl="1"/>
            <a:endParaRPr lang="en-US" dirty="0"/>
          </a:p>
          <a:p>
            <a:r>
              <a:rPr lang="en-US" dirty="0"/>
              <a:t>It can do a lot more</a:t>
            </a:r>
          </a:p>
          <a:p>
            <a:pPr lvl="1"/>
            <a:r>
              <a:rPr lang="en-US" dirty="0"/>
              <a:t>Analysis</a:t>
            </a:r>
          </a:p>
          <a:p>
            <a:pPr lvl="1"/>
            <a:r>
              <a:rPr lang="en-US" dirty="0"/>
              <a:t>Stimulus presentation</a:t>
            </a:r>
          </a:p>
          <a:p>
            <a:pPr lvl="1"/>
            <a:r>
              <a:rPr lang="en-US" dirty="0"/>
              <a:t>Interfacing with hardware</a:t>
            </a:r>
          </a:p>
          <a:p>
            <a:pPr lvl="1"/>
            <a:r>
              <a:rPr lang="en-US" dirty="0"/>
              <a:t>Standalone programs, graphical interfaces, etc.</a:t>
            </a:r>
          </a:p>
          <a:p>
            <a:pPr lvl="1"/>
            <a:endParaRPr lang="en-US" dirty="0"/>
          </a:p>
          <a:p>
            <a:r>
              <a:rPr lang="en-US" dirty="0"/>
              <a:t>Great for student CV’s  😎</a:t>
            </a:r>
          </a:p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E075E91-9A9E-0F48-813F-2CEDE449D45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543800" y="2446228"/>
            <a:ext cx="4355926" cy="3049148"/>
          </a:xfrm>
          <a:prstGeom prst="rect">
            <a:avLst/>
          </a:prstGeom>
        </p:spPr>
      </p:pic>
      <p:pic>
        <p:nvPicPr>
          <p:cNvPr id="7" name="Content Placeholder 7">
            <a:extLst>
              <a:ext uri="{FF2B5EF4-FFF2-40B4-BE49-F238E27FC236}">
                <a16:creationId xmlns:a16="http://schemas.microsoft.com/office/drawing/2014/main" id="{3BCDC336-68F0-A357-2A19-B71196792D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6110" y="148878"/>
            <a:ext cx="3083490" cy="1037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998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3B006-3E19-E7CE-941A-E774E6BDE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VS Code?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2D34D-6127-DF22-51BF-83A49D717B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64029" y="1984002"/>
            <a:ext cx="518160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Its free</a:t>
            </a:r>
          </a:p>
          <a:p>
            <a:r>
              <a:rPr lang="en-US" sz="2400" dirty="0"/>
              <a:t>Really nice built-in visual interpreter for Python</a:t>
            </a:r>
          </a:p>
          <a:p>
            <a:pPr lvl="1"/>
            <a:r>
              <a:rPr lang="en-US" sz="2000" i="1" dirty="0"/>
              <a:t>can also use it for R, C, any other programming language</a:t>
            </a:r>
          </a:p>
          <a:p>
            <a:r>
              <a:rPr lang="en-US" sz="2400" dirty="0"/>
              <a:t>Easy navigation around a project folder</a:t>
            </a:r>
          </a:p>
          <a:p>
            <a:r>
              <a:rPr lang="en-US" sz="2400" dirty="0"/>
              <a:t>Integrates well with </a:t>
            </a:r>
            <a:r>
              <a:rPr lang="en-US" sz="2400" dirty="0" err="1"/>
              <a:t>Github</a:t>
            </a:r>
            <a:endParaRPr lang="en-US" sz="2400" dirty="0"/>
          </a:p>
          <a:p>
            <a:r>
              <a:rPr lang="en-US" sz="2400" dirty="0"/>
              <a:t>Integrated coding agents</a:t>
            </a:r>
          </a:p>
          <a:p>
            <a:endParaRPr lang="en-US" sz="24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F6B7752-847D-92F4-F3E3-089EC01662A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81233" y="1741842"/>
            <a:ext cx="5810767" cy="4886813"/>
          </a:xfrm>
          <a:prstGeom prst="rect">
            <a:avLst/>
          </a:prstGeom>
        </p:spPr>
      </p:pic>
      <p:pic>
        <p:nvPicPr>
          <p:cNvPr id="7" name="Content Placeholder 9">
            <a:extLst>
              <a:ext uri="{FF2B5EF4-FFF2-40B4-BE49-F238E27FC236}">
                <a16:creationId xmlns:a16="http://schemas.microsoft.com/office/drawing/2014/main" id="{34C9E506-EE6F-9AD5-58E0-9BB10B3C1F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1681" y="92433"/>
            <a:ext cx="2687877" cy="1376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079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7128A-7863-76FD-FE07-35C1D251C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GitHub?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45B304D-6B53-8F4E-5418-C777488D2E0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789833" y="2047472"/>
            <a:ext cx="5181600" cy="4243551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F0C4F1-72E7-97C3-017B-827354ABA7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1438" y="1939685"/>
            <a:ext cx="5784562" cy="4351338"/>
          </a:xfrm>
        </p:spPr>
        <p:txBody>
          <a:bodyPr>
            <a:normAutofit/>
          </a:bodyPr>
          <a:lstStyle/>
          <a:p>
            <a:r>
              <a:rPr lang="en-US" sz="2400" dirty="0"/>
              <a:t>Share code across your team!</a:t>
            </a:r>
          </a:p>
          <a:p>
            <a:pPr lvl="1"/>
            <a:r>
              <a:rPr lang="en-US" sz="2000" dirty="0"/>
              <a:t>Manage different people working on the same code</a:t>
            </a:r>
          </a:p>
          <a:p>
            <a:pPr lvl="1"/>
            <a:r>
              <a:rPr lang="en-US" sz="2000" dirty="0"/>
              <a:t>Keep track of versions/changes </a:t>
            </a:r>
          </a:p>
          <a:p>
            <a:pPr marL="914400" lvl="2" indent="0">
              <a:buNone/>
            </a:pPr>
            <a:r>
              <a:rPr lang="en-US" sz="1600" i="1" dirty="0"/>
              <a:t>(git = version control system)</a:t>
            </a:r>
          </a:p>
          <a:p>
            <a:r>
              <a:rPr lang="en-US" sz="2400" dirty="0"/>
              <a:t>Share code and projects more widely</a:t>
            </a:r>
          </a:p>
          <a:p>
            <a:r>
              <a:rPr lang="en-US" sz="2400" dirty="0"/>
              <a:t>Access a huge world of useful tools written by others</a:t>
            </a:r>
          </a:p>
          <a:p>
            <a:r>
              <a:rPr lang="en-US" sz="2400" i="1" dirty="0"/>
              <a:t>For students: </a:t>
            </a:r>
            <a:r>
              <a:rPr lang="en-US" sz="2400" dirty="0"/>
              <a:t>document your effort on coding projects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2B75B2-CDDE-ACB8-C862-A1B869D176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7875" y="116127"/>
            <a:ext cx="1823558" cy="1823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372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3C113-3FA8-0D4A-A342-592E5B6CC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Coding Agents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81600-0DC4-8C8F-41C2-AC94B15698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522232" cy="4351338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Why:</a:t>
            </a:r>
          </a:p>
          <a:p>
            <a:r>
              <a:rPr lang="en-US" sz="2400" dirty="0"/>
              <a:t>can help you turn a recipe (e.g. pseudocode) into short code snippets</a:t>
            </a:r>
          </a:p>
          <a:p>
            <a:r>
              <a:rPr lang="en-US" sz="2400" dirty="0"/>
              <a:t>can help you parse/understand existing code</a:t>
            </a:r>
          </a:p>
          <a:p>
            <a:r>
              <a:rPr lang="en-US" sz="2400" i="1" dirty="0"/>
              <a:t>advanced: create more complex code or modify existing code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B18B3CD-809B-8484-43F2-ECE343461F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13333" y="1798919"/>
            <a:ext cx="489040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How:</a:t>
            </a:r>
          </a:p>
          <a:p>
            <a:r>
              <a:rPr lang="en-US" sz="2400" dirty="0"/>
              <a:t>Start small! Have an agent help you do </a:t>
            </a:r>
            <a:r>
              <a:rPr lang="en-US" sz="2400" i="1" dirty="0"/>
              <a:t>small</a:t>
            </a:r>
            <a:r>
              <a:rPr lang="en-US" sz="2400" dirty="0"/>
              <a:t> steps</a:t>
            </a:r>
          </a:p>
          <a:p>
            <a:r>
              <a:rPr lang="en-US" sz="2400" dirty="0"/>
              <a:t>Use what you know to check its output</a:t>
            </a:r>
          </a:p>
          <a:p>
            <a:r>
              <a:rPr lang="en-US" sz="2400" dirty="0"/>
              <a:t>Figure out ways to verify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1CF73B-9DFA-EAC9-0242-290E9958D9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3391" y="4663920"/>
            <a:ext cx="1934029" cy="14863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760540-3CEC-B9DE-0905-6011F138BE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81" y="5305762"/>
            <a:ext cx="3010807" cy="16889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00941C2-C455-931B-E632-5088900508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1742" y="5326743"/>
            <a:ext cx="1531257" cy="153125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EAE2C074-46D4-5FE5-71AE-4384902EB4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23631" y="5878418"/>
            <a:ext cx="2786743" cy="979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068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58524-C4B2-9AFC-AB67-B51D7896F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CA98E-F3AC-D42F-1A73-748850518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8"/>
            <a:ext cx="10515600" cy="1325563"/>
          </a:xfrm>
        </p:spPr>
        <p:txBody>
          <a:bodyPr/>
          <a:lstStyle/>
          <a:p>
            <a:r>
              <a:rPr lang="en-US" dirty="0"/>
              <a:t>A few Python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161EE-B3FA-B9D0-D1C9-A5085AF3EB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375681"/>
            <a:ext cx="5417456" cy="4967436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/>
              <a:t>Python script  (</a:t>
            </a:r>
            <a:r>
              <a:rPr lang="en-US" b="1" dirty="0" err="1"/>
              <a:t>myscript.py</a:t>
            </a:r>
            <a:r>
              <a:rPr lang="en-US" b="1" dirty="0"/>
              <a:t>):</a:t>
            </a:r>
          </a:p>
          <a:p>
            <a:r>
              <a:rPr lang="en-US" dirty="0"/>
              <a:t>A full program</a:t>
            </a:r>
          </a:p>
          <a:p>
            <a:r>
              <a:rPr lang="en-US" dirty="0"/>
              <a:t>You write it as a script</a:t>
            </a:r>
          </a:p>
          <a:p>
            <a:r>
              <a:rPr lang="en-US" dirty="0"/>
              <a:t>You “run” it and it executes from top to bottom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b="1" i="1" dirty="0"/>
              <a:t>Q: is there an interactive ”command window” or “console” to try things out line-by-line?</a:t>
            </a:r>
          </a:p>
          <a:p>
            <a:r>
              <a:rPr lang="en-US" dirty="0"/>
              <a:t>not by default!</a:t>
            </a:r>
          </a:p>
          <a:p>
            <a:r>
              <a:rPr lang="en-US" dirty="0"/>
              <a:t>you can set up an “interactive” python shell to mimic </a:t>
            </a:r>
            <a:r>
              <a:rPr lang="en-US" dirty="0" err="1"/>
              <a:t>Matlab</a:t>
            </a:r>
            <a:r>
              <a:rPr lang="en-US" dirty="0"/>
              <a:t>/R, but …</a:t>
            </a:r>
          </a:p>
        </p:txBody>
      </p:sp>
      <p:pic>
        <p:nvPicPr>
          <p:cNvPr id="9" name="Content Placeholder 5">
            <a:extLst>
              <a:ext uri="{FF2B5EF4-FFF2-40B4-BE49-F238E27FC236}">
                <a16:creationId xmlns:a16="http://schemas.microsoft.com/office/drawing/2014/main" id="{6901B1C6-2C52-AE60-F8C9-138C08B57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5858" y="1253330"/>
            <a:ext cx="5417456" cy="5089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293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05225-6607-EBD8-FBE3-CFD4F3613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8"/>
            <a:ext cx="10515600" cy="1325563"/>
          </a:xfrm>
        </p:spPr>
        <p:txBody>
          <a:bodyPr/>
          <a:lstStyle/>
          <a:p>
            <a:r>
              <a:rPr lang="en-US" dirty="0"/>
              <a:t>A few Python Basics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90E98FE-CCE5-1B62-6AE3-E187DA5CFC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1810" y="1506311"/>
            <a:ext cx="61722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Jupyter Notebook (</a:t>
            </a:r>
            <a:r>
              <a:rPr lang="en-US" b="1" dirty="0" err="1"/>
              <a:t>mynotebk.ipynb</a:t>
            </a:r>
            <a:r>
              <a:rPr lang="en-US" b="1" dirty="0"/>
              <a:t>):</a:t>
            </a:r>
          </a:p>
          <a:p>
            <a:r>
              <a:rPr lang="en-US" dirty="0"/>
              <a:t>A series of “cells”</a:t>
            </a:r>
          </a:p>
          <a:p>
            <a:r>
              <a:rPr lang="en-US" dirty="0"/>
              <a:t>Each cell contains code or text</a:t>
            </a:r>
          </a:p>
          <a:p>
            <a:r>
              <a:rPr lang="en-US" dirty="0"/>
              <a:t>You run each cell one at a time, see the output, and save the whole thing</a:t>
            </a:r>
          </a:p>
          <a:p>
            <a:r>
              <a:rPr lang="en-US" dirty="0"/>
              <a:t>Great for sharing/teaching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8981E65-B861-59EB-868D-62D56C5E22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6825" y="-2268"/>
            <a:ext cx="50361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6328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4223C-D2FC-CEC8-5BF8-F74CCEEB8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few Python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7C0B5-CC66-2949-6F80-6B43380EA2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488405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A python </a:t>
            </a:r>
            <a:r>
              <a:rPr lang="en-US" b="1" dirty="0"/>
              <a:t>virtual environment</a:t>
            </a:r>
            <a:r>
              <a:rPr lang="en-US" dirty="0"/>
              <a:t>:</a:t>
            </a:r>
          </a:p>
          <a:p>
            <a:r>
              <a:rPr lang="en-US" dirty="0"/>
              <a:t>A version of python, plus all the packages/libraries you need for a project</a:t>
            </a:r>
          </a:p>
          <a:p>
            <a:pPr lvl="1"/>
            <a:r>
              <a:rPr lang="en-US" dirty="0"/>
              <a:t>where everything has been verified to be </a:t>
            </a:r>
            <a:r>
              <a:rPr lang="en-US" i="1" dirty="0"/>
              <a:t>compatible</a:t>
            </a:r>
          </a:p>
          <a:p>
            <a:pPr lvl="1"/>
            <a:r>
              <a:rPr lang="en-US" dirty="0"/>
              <a:t>“dependencies” are “solved”</a:t>
            </a:r>
          </a:p>
          <a:p>
            <a:endParaRPr lang="en-US" dirty="0"/>
          </a:p>
          <a:p>
            <a:r>
              <a:rPr lang="en-US" dirty="0"/>
              <a:t>Different projects:</a:t>
            </a:r>
          </a:p>
          <a:p>
            <a:pPr lvl="1"/>
            <a:r>
              <a:rPr lang="en-US" dirty="0"/>
              <a:t>have different needs!</a:t>
            </a:r>
          </a:p>
          <a:p>
            <a:pPr lvl="1"/>
            <a:r>
              <a:rPr lang="en-US" dirty="0"/>
              <a:t>so you might load different libraries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2600" i="1" dirty="0"/>
              <a:t>.. you can have many different versions of Python on the same computer!!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25C6966-1483-FEBE-1F09-88644933BE3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503414617"/>
              </p:ext>
            </p:extLst>
          </p:nvPr>
        </p:nvGraphicFramePr>
        <p:xfrm>
          <a:off x="6230712" y="3687082"/>
          <a:ext cx="5845176" cy="299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2588">
                  <a:extLst>
                    <a:ext uri="{9D8B030D-6E8A-4147-A177-3AD203B41FA5}">
                      <a16:colId xmlns:a16="http://schemas.microsoft.com/office/drawing/2014/main" val="2886099438"/>
                    </a:ext>
                  </a:extLst>
                </a:gridCol>
                <a:gridCol w="2922588">
                  <a:extLst>
                    <a:ext uri="{9D8B030D-6E8A-4147-A177-3AD203B41FA5}">
                      <a16:colId xmlns:a16="http://schemas.microsoft.com/office/drawing/2014/main" val="14584863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R / </a:t>
                      </a:r>
                      <a:r>
                        <a:rPr lang="en-US" sz="1600" dirty="0" err="1"/>
                        <a:t>Matlab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Python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509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When a new version is released, you upgrade and hope your projects work (and fix them when they break)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You create a project with a version of Python. That project will stay in that version of Python.</a:t>
                      </a:r>
                    </a:p>
                    <a:p>
                      <a:r>
                        <a:rPr lang="en-US" sz="1600" dirty="0"/>
                        <a:t>A new project may use a newer version of Python.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3344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When you borrow someone’s old code, you modify it to make it compatible with the most recent 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When you borrow someone’s old code, they can package it with the version of python (and libraries) that all work together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42930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906F06A2-AAB8-AE9C-2ED0-52437D8C22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6825" y="566511"/>
            <a:ext cx="3120571" cy="31205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1F0ECA2-C252-7F01-40A3-FAEDA0A6F7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7396" y="708024"/>
            <a:ext cx="2659743" cy="2659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842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088E9-12BD-9690-4D7B-856A9F6CD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few Python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10B09-CA7E-889A-89A5-B7B1C8FCC08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Basic set of Python packages used for scientific computing:</a:t>
            </a:r>
          </a:p>
          <a:p>
            <a:r>
              <a:rPr lang="en-US" dirty="0" err="1"/>
              <a:t>numpy</a:t>
            </a:r>
            <a:r>
              <a:rPr lang="en-US" dirty="0"/>
              <a:t> (arrays, math functions)</a:t>
            </a:r>
          </a:p>
          <a:p>
            <a:r>
              <a:rPr lang="en-US" dirty="0"/>
              <a:t>pandas (</a:t>
            </a:r>
            <a:r>
              <a:rPr lang="en-US" dirty="0" err="1"/>
              <a:t>dataframes</a:t>
            </a:r>
            <a:r>
              <a:rPr lang="en-US" dirty="0"/>
              <a:t>)</a:t>
            </a:r>
          </a:p>
          <a:p>
            <a:r>
              <a:rPr lang="en-US" dirty="0"/>
              <a:t>matplotlib (plotting)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≈ basic </a:t>
            </a:r>
            <a:r>
              <a:rPr lang="en-US" dirty="0" err="1"/>
              <a:t>Matlab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+ statistics: </a:t>
            </a:r>
          </a:p>
          <a:p>
            <a:r>
              <a:rPr lang="en-US" dirty="0" err="1"/>
              <a:t>scipy</a:t>
            </a:r>
            <a:endParaRPr lang="en-US" dirty="0"/>
          </a:p>
          <a:p>
            <a:r>
              <a:rPr lang="en-US" dirty="0" err="1"/>
              <a:t>statsmodels</a:t>
            </a:r>
            <a:endParaRPr lang="en-US" dirty="0"/>
          </a:p>
          <a:p>
            <a:r>
              <a:rPr lang="en-US" dirty="0"/>
              <a:t>seaborn (visualization)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AF19BD-216A-C026-3A75-2A39293ACB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15629" y="1825625"/>
            <a:ext cx="5181600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More advanced stuff:</a:t>
            </a:r>
          </a:p>
          <a:p>
            <a:r>
              <a:rPr lang="en-US" dirty="0"/>
              <a:t>scikit-learn</a:t>
            </a:r>
          </a:p>
          <a:p>
            <a:r>
              <a:rPr lang="en-US" dirty="0" err="1"/>
              <a:t>sympy</a:t>
            </a:r>
            <a:endParaRPr lang="en-US" dirty="0"/>
          </a:p>
          <a:p>
            <a:r>
              <a:rPr lang="en-US" dirty="0" err="1"/>
              <a:t>nipy</a:t>
            </a:r>
            <a:endParaRPr lang="en-US" dirty="0"/>
          </a:p>
          <a:p>
            <a:r>
              <a:rPr lang="en-US" dirty="0" err="1"/>
              <a:t>psychopy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i="1" dirty="0"/>
              <a:t>… and many many others</a:t>
            </a:r>
          </a:p>
        </p:txBody>
      </p:sp>
    </p:spTree>
    <p:extLst>
      <p:ext uri="{BB962C8B-B14F-4D97-AF65-F5344CB8AC3E}">
        <p14:creationId xmlns:p14="http://schemas.microsoft.com/office/powerpoint/2010/main" val="966152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759</Words>
  <Application>Microsoft Macintosh PowerPoint</Application>
  <PresentationFormat>Widescreen</PresentationFormat>
  <Paragraphs>113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Computational Tools Workshop</vt:lpstr>
      <vt:lpstr>PowerPoint Presentation</vt:lpstr>
      <vt:lpstr>Why Python?</vt:lpstr>
      <vt:lpstr>Why VS Code?</vt:lpstr>
      <vt:lpstr>Why GitHub?</vt:lpstr>
      <vt:lpstr>Coding Agents</vt:lpstr>
      <vt:lpstr>A few Python Basics</vt:lpstr>
      <vt:lpstr>A few Python Basics</vt:lpstr>
      <vt:lpstr>A few Python Basics</vt:lpstr>
      <vt:lpstr>A few Python Basics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 Vessel</dc:creator>
  <cp:lastModifiedBy>Ed Vessel</cp:lastModifiedBy>
  <cp:revision>5</cp:revision>
  <dcterms:created xsi:type="dcterms:W3CDTF">2026-10-23T01:31:48Z</dcterms:created>
  <dcterms:modified xsi:type="dcterms:W3CDTF">2026-10-23T04:15:31Z</dcterms:modified>
</cp:coreProperties>
</file>