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9" r:id="rId4"/>
    <p:sldId id="302" r:id="rId5"/>
    <p:sldId id="303" r:id="rId6"/>
    <p:sldId id="299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85" r:id="rId15"/>
    <p:sldId id="266" r:id="rId16"/>
    <p:sldId id="267" r:id="rId17"/>
    <p:sldId id="286" r:id="rId18"/>
    <p:sldId id="287" r:id="rId19"/>
    <p:sldId id="288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80" r:id="rId38"/>
    <p:sldId id="281" r:id="rId39"/>
    <p:sldId id="30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7"/>
    <a:srgbClr val="A4FF9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26"/>
    <p:restoredTop sz="86376"/>
  </p:normalViewPr>
  <p:slideViewPr>
    <p:cSldViewPr snapToGrid="0">
      <p:cViewPr varScale="1">
        <p:scale>
          <a:sx n="104" d="100"/>
          <a:sy n="104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0757B3-6EF2-4907-85F9-A237FB88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9DE83A0-CEDE-4007-8345-5B5384ED1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EEA77A97-2CE4-5787-968D-E05BFC6288CD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2E97047-40B1-42BB-B541-EFE2FAAD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4B137E17-D3FD-58F4-A603-AAC4F20A0F7A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BD92A2-078E-47FB-8550-C3004994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B664ACF-0A0B-4E0C-AE7A-BA0793BE2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DC89CF35-8053-595E-A3FC-4DD46ABF262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0E8139E-3782-4759-8C11-856A086B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856798-1930-466A-A3CE-50D03A444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2221765-6024-472F-B282-31BC1C6AE2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3A9118F6-9F78-5E05-B7E2-2AA24524AF2F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083A5D0-D7CE-4F99-BE57-0D8C628A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0B25BDF-C903-41AD-B3E6-8BCB0B016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3A49BDC7-42E5-58E4-AD1B-A6274155947B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2BEBF9C0-7B4B-5A46-9713-419B01F0FBC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AE1D2C88-8C93-5338-B9E4-0C14EC69A717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‹#›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wcarpentry.github.io/shell-novice/reference.htm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A7CDD2-F534-407C-8A8A-4F22575F0D7F}"/>
              </a:ext>
            </a:extLst>
          </p:cNvPr>
          <p:cNvSpPr>
            <a:spLocks noGrp="1"/>
          </p:cNvSpPr>
          <p:nvPr/>
        </p:nvSpPr>
        <p:spPr>
          <a:xfrm>
            <a:off x="723900" y="1047750"/>
            <a:ext cx="10763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75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75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Getting started with computational tools</a:t>
            </a:r>
            <a:r>
              <a:rPr lang="en-US" sz="375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:</a:t>
            </a:r>
          </a:p>
          <a:p>
            <a:pPr>
              <a:lnSpc>
                <a:spcPct val="115000"/>
              </a:lnSpc>
              <a:buNone/>
              <a:defRPr sz="375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75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NSF Year 1 Workshop </a:t>
            </a:r>
            <a:endParaRPr sz="3750" b="1" dirty="0">
              <a:solidFill>
                <a:srgbClr val="173F4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3C2309-A8FB-491A-8C2D-9C3D0BC0A872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We will cover: </a:t>
            </a:r>
            <a:r>
              <a:rPr sz="2250" b="1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VS Code, Python environments, GitHub, and coding agents</a:t>
            </a:r>
            <a:endParaRPr lang="en-US" sz="2250" b="1" dirty="0">
              <a:solidFill>
                <a:srgbClr val="2633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1F075-98BD-460A-9FB1-5E041D4F3994}"/>
              </a:ext>
            </a:extLst>
          </p:cNvPr>
          <p:cNvSpPr>
            <a:spLocks noGrp="1"/>
          </p:cNvSpPr>
          <p:nvPr/>
        </p:nvSpPr>
        <p:spPr>
          <a:xfrm>
            <a:off x="742950" y="4143374"/>
            <a:ext cx="10858500" cy="2562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Session leader: Luis Morales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Session 1 of 3</a:t>
            </a:r>
            <a:endParaRPr lang="en-US" sz="2100" b="1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sz="210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October 23</a:t>
            </a:r>
            <a:r>
              <a:rPr lang="en-US" sz="2100" b="0" baseline="300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rd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, 2026</a:t>
            </a: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F3A7CBD1-4435-57E4-B88E-EE4EC37B9FE3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4865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C49453-629B-4604-A7E6-B94E6A7C99D2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Purpose: best practices in r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esearch and collaboration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A7BD7-DB99-42BC-987F-EACEEE58EF5A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Allows us to manage 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analys</a:t>
            </a:r>
            <a:r>
              <a:rPr lang="en-US"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es</a:t>
            </a:r>
            <a:r>
              <a:rPr lang="en-US" sz="225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 efficiently and 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share </a:t>
            </a:r>
            <a:r>
              <a:rPr lang="en-US" sz="225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them 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with your lab.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085F5-0DC8-4E64-A798-C7CF78943466}"/>
              </a:ext>
            </a:extLst>
          </p:cNvPr>
          <p:cNvSpPr>
            <a:spLocks noGrp="1"/>
          </p:cNvSpPr>
          <p:nvPr/>
        </p:nvSpPr>
        <p:spPr>
          <a:xfrm>
            <a:off x="613186" y="2428875"/>
            <a:ext cx="10988264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7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Some definitions: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sz="187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VS Code: </a:t>
            </a:r>
            <a:r>
              <a:rPr lang="en-US" sz="1875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Visual Studio Code is a free program that lets us </a:t>
            </a:r>
            <a:r>
              <a:rPr sz="187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write and run code in one application.</a:t>
            </a:r>
          </a:p>
          <a:p>
            <a:endParaRPr sz="187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Python: </a:t>
            </a:r>
            <a:r>
              <a:rPr lang="en-US" sz="1875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 high-level programming language used to load data, calculate results, and make plots.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187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Git and GitHub: </a:t>
            </a:r>
            <a:r>
              <a:rPr lang="en-US" sz="1875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Git tracks file versions. GitHub hosts Git repositories online for sharing and collaboration.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sz="1875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86B0E-2ECC-4BD0-BEA5-D181D4ECCD59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5B01F89F-65B0-5DF2-B692-1A6D0E7174F9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4902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893190-D55E-49FB-8C99-E43921F8F3C2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Setup and workshop files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E8F4B2-8104-4D08-BEF2-DC1C1A52E48E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DE9CA1-6754-47B4-9D5A-7F11C346F7FF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</a:t>
            </a:r>
            <a:r>
              <a:rPr lang="en-US" sz="21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Open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VS Code and 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Install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Microsoft’s Python/Jupyter extensions.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A21D1-19FB-425F-8B5C-80E8AC63EFA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 sz="1800" b="0" dirty="0">
              <a:solidFill>
                <a:srgbClr val="173F4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B7A947DB-509E-5D44-AFF5-0B1A8C24A1AF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BD753-D699-D06C-D4DC-A26DAD706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95" y="3009901"/>
            <a:ext cx="5447909" cy="2980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6EFF9B-E72E-9008-DD16-DA4BE8C54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8" y="2995471"/>
            <a:ext cx="5474107" cy="301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7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E005770B-43BE-4A55-BD09-D55E8D8C76E4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2a. 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Installing Git on macOS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F46C8FFA-0752-440F-84BC-69353738A8F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VS Code: Terminal &gt; New Terminal</a:t>
            </a:r>
          </a:p>
        </p:txBody>
      </p:sp>
      <p:sp>
        <p:nvSpPr>
          <p:cNvPr id="3" name="step1">
            <a:extLst>
              <a:ext uri="{FF2B5EF4-FFF2-40B4-BE49-F238E27FC236}">
                <a16:creationId xmlns:a16="http://schemas.microsoft.com/office/drawing/2014/main" id="{6C32F388-EC81-446A-831C-8B8C44CD9E19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Check whether Git is installed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lang="en-US" sz="2100" b="0" dirty="0">
                <a:solidFill>
                  <a:srgbClr val="18232D"/>
                </a:solidFill>
                <a:highlight>
                  <a:srgbClr val="FFFF00"/>
                </a:highlight>
                <a:latin typeface="Bitstream Charter"/>
                <a:ea typeface="Bitstream Charter"/>
                <a:cs typeface="Bitstream Charter"/>
              </a:rPr>
              <a:t>(copy and paste highlighted commands)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</a:t>
            </a:r>
          </a:p>
        </p:txBody>
      </p:sp>
      <p:sp>
        <p:nvSpPr>
          <p:cNvPr id="4" name="command1">
            <a:extLst>
              <a:ext uri="{FF2B5EF4-FFF2-40B4-BE49-F238E27FC236}">
                <a16:creationId xmlns:a16="http://schemas.microsoft.com/office/drawing/2014/main" id="{DCC57682-19AF-49A3-8B64-C7AE287928CF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git --version</a:t>
            </a:r>
          </a:p>
        </p:txBody>
      </p:sp>
      <p:sp>
        <p:nvSpPr>
          <p:cNvPr id="5" name="step2">
            <a:extLst>
              <a:ext uri="{FF2B5EF4-FFF2-40B4-BE49-F238E27FC236}">
                <a16:creationId xmlns:a16="http://schemas.microsoft.com/office/drawing/2014/main" id="{FEBE8B5E-D197-44EB-9A80-AA7592005E08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If a version appears, you’re read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y.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If macOS offers to install developer tools, follow the prompts.</a:t>
            </a:r>
          </a:p>
        </p:txBody>
      </p:sp>
      <p:sp>
        <p:nvSpPr>
          <p:cNvPr id="6" name="step3">
            <a:extLst>
              <a:ext uri="{FF2B5EF4-FFF2-40B4-BE49-F238E27FC236}">
                <a16:creationId xmlns:a16="http://schemas.microsoft.com/office/drawing/2014/main" id="{6952773D-3A78-4BB2-A27F-8F04D3E9AF1B}"/>
              </a:ext>
            </a:extLst>
          </p:cNvPr>
          <p:cNvSpPr>
            <a:spLocks noGrp="1"/>
          </p:cNvSpPr>
          <p:nvPr/>
        </p:nvSpPr>
        <p:spPr>
          <a:xfrm>
            <a:off x="742950" y="4619625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If Git is unavailable and no prompt appears, run:</a:t>
            </a:r>
          </a:p>
        </p:txBody>
      </p:sp>
      <p:sp>
        <p:nvSpPr>
          <p:cNvPr id="7" name="command2">
            <a:extLst>
              <a:ext uri="{FF2B5EF4-FFF2-40B4-BE49-F238E27FC236}">
                <a16:creationId xmlns:a16="http://schemas.microsoft.com/office/drawing/2014/main" id="{DCEF6285-B245-4960-8427-638499792FEC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xcode</a:t>
            </a:r>
            <a:r>
              <a:rPr sz="21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-select --install</a:t>
            </a:r>
          </a:p>
        </p:txBody>
      </p:sp>
      <p:sp>
        <p:nvSpPr>
          <p:cNvPr id="8" name="step4">
            <a:extLst>
              <a:ext uri="{FF2B5EF4-FFF2-40B4-BE49-F238E27FC236}">
                <a16:creationId xmlns:a16="http://schemas.microsoft.com/office/drawing/2014/main" id="{3972B342-9DE7-48BD-B747-2904787A3788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After installation, run </a:t>
            </a: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Bitstream Charter"/>
                <a:ea typeface="Bitstream Charter"/>
                <a:cs typeface="Bitstream Charter"/>
              </a:rPr>
              <a:t>git --version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again.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46C5A92F-9EAC-520E-AD3A-E03F1072A9FD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4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206649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CD11F9A1-0C4F-4A40-85C1-8486B5EF2524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2b. 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Installing Git on Windows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496DD3C2-246D-4ECE-9C55-39EA850EE2A3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VS Code: Terminal &gt; New Terminal. Use PowerShell.</a:t>
            </a:r>
          </a:p>
        </p:txBody>
      </p:sp>
      <p:sp>
        <p:nvSpPr>
          <p:cNvPr id="3" name="step1">
            <a:extLst>
              <a:ext uri="{FF2B5EF4-FFF2-40B4-BE49-F238E27FC236}">
                <a16:creationId xmlns:a16="http://schemas.microsoft.com/office/drawing/2014/main" id="{37205087-5FC9-47B1-A129-A364CE5FFF1E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Check whether Git is installed:</a:t>
            </a:r>
          </a:p>
        </p:txBody>
      </p:sp>
      <p:sp>
        <p:nvSpPr>
          <p:cNvPr id="4" name="command1">
            <a:extLst>
              <a:ext uri="{FF2B5EF4-FFF2-40B4-BE49-F238E27FC236}">
                <a16:creationId xmlns:a16="http://schemas.microsoft.com/office/drawing/2014/main" id="{344B463A-10C0-4584-8A6F-C5B5E7AAFDFF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git --version</a:t>
            </a:r>
          </a:p>
        </p:txBody>
      </p:sp>
      <p:sp>
        <p:nvSpPr>
          <p:cNvPr id="5" name="step2">
            <a:extLst>
              <a:ext uri="{FF2B5EF4-FFF2-40B4-BE49-F238E27FC236}">
                <a16:creationId xmlns:a16="http://schemas.microsoft.com/office/drawing/2014/main" id="{AC893AC9-80F3-404B-A1E3-C0681320262C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If a version appears, you’re ready. Otherwise, run:</a:t>
            </a:r>
          </a:p>
        </p:txBody>
      </p:sp>
      <p:sp>
        <p:nvSpPr>
          <p:cNvPr id="6" name="command2">
            <a:extLst>
              <a:ext uri="{FF2B5EF4-FFF2-40B4-BE49-F238E27FC236}">
                <a16:creationId xmlns:a16="http://schemas.microsoft.com/office/drawing/2014/main" id="{2C669225-461B-4285-93BE-B97442ED36D5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winget</a:t>
            </a:r>
            <a:r>
              <a:rPr sz="20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install --id </a:t>
            </a:r>
            <a:r>
              <a:rPr sz="20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Git.Git</a:t>
            </a:r>
            <a:r>
              <a:rPr sz="20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-e --source </a:t>
            </a:r>
            <a:r>
              <a:rPr sz="20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winget</a:t>
            </a:r>
            <a:endParaRPr sz="2025" b="0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7" name="step3">
            <a:extLst>
              <a:ext uri="{FF2B5EF4-FFF2-40B4-BE49-F238E27FC236}">
                <a16:creationId xmlns:a16="http://schemas.microsoft.com/office/drawing/2014/main" id="{3723D40C-E204-4B8D-B8D4-349C44277A54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Follow the prompts. Then close and reopen VS Code.</a:t>
            </a:r>
          </a:p>
        </p:txBody>
      </p:sp>
      <p:sp>
        <p:nvSpPr>
          <p:cNvPr id="8" name="step4">
            <a:extLst>
              <a:ext uri="{FF2B5EF4-FFF2-40B4-BE49-F238E27FC236}">
                <a16:creationId xmlns:a16="http://schemas.microsoft.com/office/drawing/2014/main" id="{6B9EEE7A-5613-4D10-A62E-B01C320B33E2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10706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Open a new terminal and run git --version again.</a:t>
            </a:r>
          </a:p>
        </p:txBody>
      </p:sp>
      <p:sp>
        <p:nvSpPr>
          <p:cNvPr id="9" name="fallback">
            <a:extLst>
              <a:ext uri="{FF2B5EF4-FFF2-40B4-BE49-F238E27FC236}">
                <a16:creationId xmlns:a16="http://schemas.microsoft.com/office/drawing/2014/main" id="{CCF0287C-F303-4D12-885B-8D9FD2705752}"/>
              </a:ext>
            </a:extLst>
          </p:cNvPr>
          <p:cNvSpPr>
            <a:spLocks noGrp="1"/>
          </p:cNvSpPr>
          <p:nvPr/>
        </p:nvSpPr>
        <p:spPr>
          <a:xfrm>
            <a:off x="742950" y="6048375"/>
            <a:ext cx="1070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If </a:t>
            </a:r>
            <a:r>
              <a:rPr sz="18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winget</a:t>
            </a: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is unavailable: </a:t>
            </a:r>
            <a:r>
              <a:rPr sz="1800" b="0" dirty="0">
                <a:solidFill>
                  <a:srgbClr val="18232D"/>
                </a:solidFill>
                <a:highlight>
                  <a:srgbClr val="FFFF00"/>
                </a:highlight>
                <a:latin typeface="Bitstream Charter"/>
                <a:ea typeface="Bitstream Charter"/>
                <a:cs typeface="Bitstream Charter"/>
              </a:rPr>
              <a:t>git-</a:t>
            </a:r>
            <a:r>
              <a:rPr sz="1800" b="0" dirty="0" err="1">
                <a:solidFill>
                  <a:srgbClr val="18232D"/>
                </a:solidFill>
                <a:highlight>
                  <a:srgbClr val="FFFF00"/>
                </a:highlight>
                <a:latin typeface="Bitstream Charter"/>
                <a:ea typeface="Bitstream Charter"/>
                <a:cs typeface="Bitstream Charter"/>
              </a:rPr>
              <a:t>scm.com</a:t>
            </a:r>
            <a:r>
              <a:rPr sz="1800" b="0" dirty="0">
                <a:solidFill>
                  <a:srgbClr val="18232D"/>
                </a:solidFill>
                <a:highlight>
                  <a:srgbClr val="FFFF00"/>
                </a:highlight>
                <a:latin typeface="Bitstream Charter"/>
                <a:ea typeface="Bitstream Charter"/>
                <a:cs typeface="Bitstream Charter"/>
              </a:rPr>
              <a:t>/install/windows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CF100435-7FBE-5108-8AAE-892C2B2B65A6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5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63400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8E84E-43A1-3618-485C-A1F9F6EBE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104902-0020-1B3A-3574-64AE7B1D4ED6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Setup and workshop files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59E39-1727-4D40-B2BA-288DD38A9ACE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7938D-A337-2DF3-BB65-2F3BBC7A6360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Create workshop-project on your Desktop.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VS Code: File &gt; Open Folder &gt; choose workshop-project.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78585-7BDB-757C-79D1-F9FC0F63B50B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Check: Explorer sho</a:t>
            </a:r>
            <a:r>
              <a:rPr lang="en-US"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uld show</a:t>
            </a: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your new workshop-project folder.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70904A37-3A41-50AE-8D60-5F0D85373236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6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349708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50DAF0-22DE-4B3F-9CBF-7AFA2529E7C5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Code and the Python environment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E16D38-6259-4D84-8655-409585E4317D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00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250" dirty="0">
                <a:solidFill>
                  <a:srgbClr val="26333A"/>
                </a:solidFill>
                <a:latin typeface="Bitstream Charter"/>
              </a:rPr>
              <a:t>VS Code edits the instructions (the Python code) and a Python interpreter executes them using the selected environment’s packages.</a:t>
            </a:r>
            <a:endParaRPr sz="2250" b="0" dirty="0">
              <a:solidFill>
                <a:srgbClr val="2633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26EAC-C8FE-43DD-8DD3-8078698F6F38}"/>
              </a:ext>
            </a:extLst>
          </p:cNvPr>
          <p:cNvSpPr>
            <a:spLocks noGrp="1"/>
          </p:cNvSpPr>
          <p:nvPr/>
        </p:nvSpPr>
        <p:spPr>
          <a:xfrm>
            <a:off x="742950" y="3135086"/>
            <a:ext cx="10706100" cy="320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Package</a:t>
            </a:r>
            <a:r>
              <a:rPr lang="en-US"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/ libraries</a:t>
            </a:r>
            <a:r>
              <a:rPr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existing code you can use, such as pandas for tables.</a:t>
            </a:r>
          </a:p>
          <a:p>
            <a:endParaRPr sz="1800" b="0" dirty="0">
              <a:solidFill>
                <a:schemeClr val="tx1"/>
              </a:solidFill>
              <a:latin typeface="+mn-lt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Environment: </a:t>
            </a:r>
            <a:r>
              <a:rPr lang="en-US" sz="21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an isolated Python setup with a specific version and its own installed packages.</a:t>
            </a:r>
          </a:p>
          <a:p>
            <a:endParaRPr sz="1800" b="0" dirty="0">
              <a:solidFill>
                <a:schemeClr val="tx1"/>
              </a:solidFill>
              <a:latin typeface="+mn-lt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Notebook: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 file containing code cells, explanations, and results.</a:t>
            </a:r>
          </a:p>
          <a:p>
            <a:endParaRPr sz="1800" b="0" dirty="0">
              <a:solidFill>
                <a:schemeClr val="tx1"/>
              </a:solidFill>
              <a:latin typeface="+mn-lt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Notebook k</a:t>
            </a:r>
            <a:r>
              <a:rPr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ernel</a:t>
            </a:r>
            <a:r>
              <a:rPr lang="en-US" sz="2100" b="1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r>
              <a:rPr lang="en-US" sz="2100" dirty="0">
                <a:solidFill>
                  <a:srgbClr val="18232D"/>
                </a:solidFill>
                <a:latin typeface="Bitstream Charter"/>
              </a:rPr>
              <a:t>the running process that executes notebook cells and keeps variables in memory between cells.</a:t>
            </a: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78C9B-F408-4DE1-9E90-32191174FA0E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7E485370-F51D-583D-9CFB-3A6FB01E0207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7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89728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F53FBE-B7B8-40F2-90C7-406AD9C36E7B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Folders and the terminal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F4352-AF85-44E4-A55C-FBB6E1C15B53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Terminal &gt; New Terminal opens a place to type commands.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78B6F6-9ACC-451F-B0EC-144E31B8ACF8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pwd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         </a:t>
            </a:r>
            <a:r>
              <a:rPr lang="en-US"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Show the current folder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ls           </a:t>
            </a:r>
            <a:r>
              <a:rPr lang="en-US"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List its contents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cd name      </a:t>
            </a:r>
            <a:r>
              <a:rPr lang="en-US"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Enter a folder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cd ..        </a:t>
            </a:r>
            <a:r>
              <a:rPr lang="en-US"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Move up one level</a:t>
            </a:r>
            <a:endParaRPr lang="en-US" sz="210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21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B627-32B5-4A21-A25E-8777035BBC21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0F604CEC-8970-5A4C-812A-4C155590F07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8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terminal-help-heading">
            <a:extLst>
              <a:ext uri="{FF2B5EF4-FFF2-40B4-BE49-F238E27FC236}">
                <a16:creationId xmlns:a16="http://schemas.microsoft.com/office/drawing/2014/main" id="{BB1A1AA7-44A3-40BD-8075-5B8D8572A1D6}"/>
              </a:ext>
            </a:extLst>
          </p:cNvPr>
          <p:cNvSpPr>
            <a:spLocks noGrp="1"/>
          </p:cNvSpPr>
          <p:nvPr/>
        </p:nvSpPr>
        <p:spPr>
          <a:xfrm>
            <a:off x="8096250" y="290512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New to the terminal?</a:t>
            </a:r>
          </a:p>
        </p:txBody>
      </p:sp>
      <p:sp>
        <p:nvSpPr>
          <p:cNvPr id="8" name="terminal-help-link">
            <a:extLst>
              <a:ext uri="{FF2B5EF4-FFF2-40B4-BE49-F238E27FC236}">
                <a16:creationId xmlns:a16="http://schemas.microsoft.com/office/drawing/2014/main" id="{E858509A-BD6A-45AD-ADCE-EAB76A743282}"/>
              </a:ext>
            </a:extLst>
          </p:cNvPr>
          <p:cNvSpPr>
            <a:spLocks noGrp="1"/>
          </p:cNvSpPr>
          <p:nvPr/>
        </p:nvSpPr>
        <p:spPr>
          <a:xfrm>
            <a:off x="8096250" y="338137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u="sng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  <a:hlinkClick r:id="rId2"/>
              </a:rPr>
              <a:t>Terminal command reference</a:t>
            </a:r>
          </a:p>
        </p:txBody>
      </p:sp>
      <p:sp>
        <p:nvSpPr>
          <p:cNvPr id="9" name="terminal-help-scope">
            <a:extLst>
              <a:ext uri="{FF2B5EF4-FFF2-40B4-BE49-F238E27FC236}">
                <a16:creationId xmlns:a16="http://schemas.microsoft.com/office/drawing/2014/main" id="{15D878BE-9C2C-4040-8400-579D05A3903C}"/>
              </a:ext>
            </a:extLst>
          </p:cNvPr>
          <p:cNvSpPr>
            <a:spLocks noGrp="1"/>
          </p:cNvSpPr>
          <p:nvPr/>
        </p:nvSpPr>
        <p:spPr>
          <a:xfrm>
            <a:off x="8096250" y="414337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Software Carpentry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Unix shell reference</a:t>
            </a:r>
          </a:p>
        </p:txBody>
      </p:sp>
    </p:spTree>
    <p:extLst>
      <p:ext uri="{BB962C8B-B14F-4D97-AF65-F5344CB8AC3E}">
        <p14:creationId xmlns:p14="http://schemas.microsoft.com/office/powerpoint/2010/main" val="86631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5E9A30-1649-40BA-B0D7-35E11033170D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Installing uv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11276C-A9D0-4B34-8361-F2253E09920A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uv manages our project’s environment and dependencies.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21DA3-D984-4737-B938-6DAE520ED362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macOS / Linux</a:t>
            </a:r>
          </a:p>
          <a:p>
            <a:pPr>
              <a:lnSpc>
                <a:spcPct val="115000"/>
              </a:lnSpc>
              <a:buNone/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curl -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LsSf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https://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astral.sh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/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uv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/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install.sh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| 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sh</a:t>
            </a:r>
            <a:endParaRPr sz="1725" b="0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  <a:p>
            <a:endParaRPr sz="1725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Windows PowerShell</a:t>
            </a:r>
          </a:p>
          <a:p>
            <a:pPr>
              <a:lnSpc>
                <a:spcPct val="115000"/>
              </a:lnSpc>
              <a:buNone/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powershell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-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ExecutionPolicy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ByPass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-c "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irm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https://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astral.sh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/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uv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/install.ps1 | </a:t>
            </a:r>
            <a:r>
              <a:rPr sz="172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iex</a:t>
            </a:r>
            <a:r>
              <a:rPr sz="17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"</a:t>
            </a:r>
            <a:endParaRPr lang="en-US" sz="1725" b="0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725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buNone/>
              <a:defRPr sz="17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725" b="1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Dependencies: </a:t>
            </a:r>
            <a:r>
              <a:rPr lang="en-US" sz="1725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S</a:t>
            </a:r>
            <a:r>
              <a:rPr lang="en-US" sz="1725" dirty="0">
                <a:solidFill>
                  <a:srgbClr val="18232D"/>
                </a:solidFill>
                <a:latin typeface="DejaVu Sans Mono"/>
              </a:rPr>
              <a:t>oftware our project needs. </a:t>
            </a:r>
            <a:r>
              <a:rPr lang="en-US" sz="1725" dirty="0" err="1">
                <a:solidFill>
                  <a:srgbClr val="18232D"/>
                </a:solidFill>
                <a:latin typeface="DejaVu Sans Mono"/>
              </a:rPr>
              <a:t>uv</a:t>
            </a:r>
            <a:r>
              <a:rPr lang="en-US" sz="1725" dirty="0">
                <a:solidFill>
                  <a:srgbClr val="18232D"/>
                </a:solidFill>
                <a:latin typeface="DejaVu Sans Mono"/>
              </a:rPr>
              <a:t> records those requirements, resolves package versions, and installs them in the project environment</a:t>
            </a:r>
            <a:endParaRPr lang="en-US" sz="1725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C1CD9-873F-4595-9806-26D1DED58C25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Reopen the terminal. uv --version should print a version number.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03FC214A-8FF8-502D-B142-59126DCF1B8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9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39605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8AAF9A-59FF-41B7-892B-44382EF6A3FB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Creating the Python environment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C80731-E31B-477C-9EF5-A0931BB18FB9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Run </a:t>
            </a:r>
            <a:r>
              <a:rPr sz="2250" b="0" dirty="0">
                <a:solidFill>
                  <a:srgbClr val="26333A"/>
                </a:solidFill>
                <a:highlight>
                  <a:srgbClr val="FFFF00"/>
                </a:highlight>
                <a:latin typeface="Bitstream Charter"/>
                <a:ea typeface="Bitstream Charter"/>
                <a:cs typeface="Bitstream Charter"/>
              </a:rPr>
              <a:t>each command 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in the terminal, inside workshop-project.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BD1D98-4845-4D23-B241-995D48C6567C}"/>
              </a:ext>
            </a:extLst>
          </p:cNvPr>
          <p:cNvSpPr>
            <a:spLocks noGrp="1"/>
          </p:cNvSpPr>
          <p:nvPr/>
        </p:nvSpPr>
        <p:spPr>
          <a:xfrm>
            <a:off x="742949" y="2619375"/>
            <a:ext cx="10918619" cy="36032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uv</a:t>
            </a:r>
            <a:r>
              <a:rPr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python install 3.1</a:t>
            </a:r>
            <a:r>
              <a:rPr lang="en-US"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4  </a:t>
            </a:r>
            <a:r>
              <a:rPr lang="en-US" sz="16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 &lt;----copy and paste this into the terminal!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60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6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lang="en-US" sz="1600" dirty="0"/>
              <a:t>obtains Python of a specific version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16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uv</a:t>
            </a:r>
            <a:r>
              <a:rPr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</a:t>
            </a:r>
            <a:r>
              <a:rPr sz="16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init</a:t>
            </a:r>
            <a:r>
              <a:rPr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--python 3.1</a:t>
            </a:r>
            <a:r>
              <a:rPr lang="en-US"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4</a:t>
            </a:r>
            <a:r>
              <a:rPr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--no-package </a:t>
            </a:r>
            <a:endParaRPr lang="en-US" sz="1600" b="0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60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6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#creates configuration files without packaging your project for distribution</a:t>
            </a:r>
            <a:endParaRPr lang="en-US" sz="1600" dirty="0"/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16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uv</a:t>
            </a:r>
            <a:r>
              <a:rPr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add pandas matplotlib </a:t>
            </a:r>
            <a:r>
              <a:rPr sz="16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ipykernel</a:t>
            </a:r>
            <a:r>
              <a:rPr lang="en-US" sz="16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lnSpc>
                <a:spcPct val="100000"/>
              </a:lnSpc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60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6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lang="en-US" sz="1600" dirty="0">
                <a:solidFill>
                  <a:srgbClr val="18232D"/>
                </a:solidFill>
                <a:latin typeface="DejaVu Sans Mono"/>
              </a:rPr>
              <a:t>records dependencies and installs them into a newly created .</a:t>
            </a:r>
            <a:r>
              <a:rPr lang="en-US" sz="1600" dirty="0" err="1">
                <a:solidFill>
                  <a:srgbClr val="18232D"/>
                </a:solidFill>
                <a:latin typeface="DejaVu Sans Mono"/>
              </a:rPr>
              <a:t>venv</a:t>
            </a:r>
            <a:r>
              <a:rPr lang="en-US" sz="1600" dirty="0">
                <a:solidFill>
                  <a:srgbClr val="18232D"/>
                </a:solidFill>
                <a:latin typeface="DejaVu Sans Mono"/>
              </a:rPr>
              <a:t>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21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55C1D-285C-4E4F-9751-FE38C84F8A6B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After </a:t>
            </a:r>
            <a:r>
              <a:rPr sz="1800" b="0" dirty="0" err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uv</a:t>
            </a: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add: .</a:t>
            </a:r>
            <a:r>
              <a:rPr sz="1800" b="0" dirty="0" err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venv</a:t>
            </a: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and </a:t>
            </a:r>
            <a:r>
              <a:rPr sz="1800" b="0" dirty="0" err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uv.lock</a:t>
            </a: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should appear.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0FAEF2B2-691E-535E-B164-AE31DCF5C75B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10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61085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1D1A08-0961-4598-80CE-F8628EDFCC82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Environment files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5-3A1C-4DF9-966B-EA2EFD3E4C56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You’ll find these in VS Code’s Explorer, at the top level of workshop-project.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9D3C2-FC9F-4E46-91DE-2952DA930B2B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408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Configuration files (specify requirements):</a:t>
            </a:r>
          </a:p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19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950" b="1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pyproject.toml</a:t>
            </a:r>
            <a:r>
              <a:rPr sz="1950" b="1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     Project and dependency requirements</a:t>
            </a:r>
            <a:endParaRPr lang="en-US" sz="19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950" b="1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.python-version      </a:t>
            </a:r>
            <a:r>
              <a:rPr lang="en-US" sz="195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Python version selection</a:t>
            </a:r>
          </a:p>
          <a:p>
            <a:pPr>
              <a:lnSpc>
                <a:spcPct val="115000"/>
              </a:lnSpc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95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The </a:t>
            </a:r>
            <a:r>
              <a:rPr lang="en-US" sz="1950" b="0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lockfile</a:t>
            </a:r>
            <a:r>
              <a:rPr lang="en-US"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(records </a:t>
            </a:r>
            <a:r>
              <a:rPr lang="en-US" sz="1950" dirty="0">
                <a:solidFill>
                  <a:srgbClr val="18232D"/>
                </a:solidFill>
                <a:latin typeface="DejaVu Sans Mono"/>
              </a:rPr>
              <a:t>resolved package versions)</a:t>
            </a:r>
            <a:endParaRPr lang="en-US" sz="19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19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950" b="1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uv.lock</a:t>
            </a:r>
            <a:r>
              <a:rPr sz="1950" b="1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             </a:t>
            </a:r>
            <a:r>
              <a:rPr sz="195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Resolved package versions</a:t>
            </a:r>
          </a:p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9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950" dirty="0">
                <a:solidFill>
                  <a:srgbClr val="18232D"/>
                </a:solidFill>
                <a:latin typeface="DejaVu Sans Mono"/>
              </a:rPr>
              <a:t>The installed environment folder:</a:t>
            </a:r>
          </a:p>
          <a:p>
            <a:pPr>
              <a:lnSpc>
                <a:spcPct val="100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1950" dirty="0">
              <a:solidFill>
                <a:srgbClr val="18232D"/>
              </a:solidFill>
              <a:latin typeface="DejaVu Sans Mono"/>
            </a:endParaRPr>
          </a:p>
          <a:p>
            <a:pPr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95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lang="en-US" sz="1950" b="1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lang="en-US" sz="1950" b="1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venv</a:t>
            </a:r>
            <a:r>
              <a:rPr lang="en-US" sz="1950" b="1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/                   </a:t>
            </a:r>
            <a:r>
              <a:rPr lang="en-US" sz="1950" b="1" dirty="0">
                <a:solidFill>
                  <a:srgbClr val="18232D"/>
                </a:solidFill>
                <a:latin typeface="DejaVu Sans Mono"/>
              </a:rPr>
              <a:t>contains the installed environment on this computer</a:t>
            </a:r>
            <a:endParaRPr lang="en-US" sz="1950" b="1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buNone/>
              <a:defRPr sz="19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br>
              <a:rPr lang="en-US" sz="1950" dirty="0">
                <a:solidFill>
                  <a:srgbClr val="18232D"/>
                </a:solidFill>
                <a:latin typeface="DejaVu Sans Mono"/>
              </a:rPr>
            </a:br>
            <a:endParaRPr sz="19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B4EA21-90A8-452C-A860-C513407972B6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8226E6BC-1DBE-5376-840C-2C02883A08D1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11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538381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4265F-30D2-4854-A02D-94C70519C6CD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Installing </a:t>
            </a: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vs 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importing packages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55561C-189F-4E4C-A493-440BA407928A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Install a package in the environment that runs your code.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F9C52F-D2DC-4256-AE51-BCC136C05DC7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Terminal: 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uv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add pandas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(already done)</a:t>
            </a: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#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Installs pandas in the project environment.</a:t>
            </a:r>
            <a:endParaRPr lang="en-US"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sz="210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endParaRPr lang="en-US"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Within a </a:t>
            </a:r>
            <a:r>
              <a:rPr sz="2100" b="0" dirty="0">
                <a:latin typeface="Bitstream Charter"/>
                <a:ea typeface="Bitstream Charter"/>
                <a:cs typeface="Bitstream Charter"/>
              </a:rPr>
              <a:t>Python</a:t>
            </a: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 (.</a:t>
            </a:r>
            <a:r>
              <a:rPr lang="en-US" sz="2100" b="0" dirty="0" err="1">
                <a:latin typeface="Bitstream Charter"/>
                <a:ea typeface="Bitstream Charter"/>
                <a:cs typeface="Bitstream Charter"/>
              </a:rPr>
              <a:t>py</a:t>
            </a: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 or .</a:t>
            </a:r>
            <a:r>
              <a:rPr lang="en-US" sz="2100" b="0" dirty="0" err="1">
                <a:latin typeface="Bitstream Charter"/>
                <a:ea typeface="Bitstream Charter"/>
                <a:cs typeface="Bitstream Charter"/>
              </a:rPr>
              <a:t>ipynb</a:t>
            </a: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) file</a:t>
            </a:r>
            <a:r>
              <a:rPr sz="2100" b="0" dirty="0">
                <a:latin typeface="Bitstream Charter"/>
                <a:ea typeface="Bitstream Charter"/>
                <a:cs typeface="Bitstream Charter"/>
              </a:rPr>
              <a:t>: </a:t>
            </a: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 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`</a:t>
            </a:r>
            <a:r>
              <a:rPr sz="2100" b="0" dirty="0">
                <a:latin typeface="Bitstream Charter"/>
                <a:ea typeface="Bitstream Charter"/>
                <a:cs typeface="Bitstream Charter"/>
              </a:rPr>
              <a:t>import pandas as p</a:t>
            </a:r>
            <a:r>
              <a:rPr lang="en-US" sz="2100" b="0" dirty="0">
                <a:latin typeface="Bitstream Charter"/>
                <a:ea typeface="Bitstream Charter"/>
                <a:cs typeface="Bitstream Charter"/>
              </a:rPr>
              <a:t>d` </a:t>
            </a:r>
            <a:r>
              <a:rPr lang="en-US" sz="2100" dirty="0">
                <a:latin typeface="Bitstream Charter"/>
                <a:ea typeface="Bitstream Charter"/>
                <a:cs typeface="Bitstream Charter"/>
              </a:rPr>
              <a:t>l</a:t>
            </a:r>
            <a:r>
              <a:rPr sz="2100" b="0" dirty="0">
                <a:latin typeface="Bitstream Charter"/>
                <a:ea typeface="Bitstream Charter"/>
                <a:cs typeface="Bitstream Charter"/>
              </a:rPr>
              <a:t>oads pandas in the running session under the name pd.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458D-1FEA-403E-8967-9FA7460632FE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E4197595-BC6D-55B3-895D-68962040D356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12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850254-45D5-9344-DE11-2E00458112C3}"/>
              </a:ext>
            </a:extLst>
          </p:cNvPr>
          <p:cNvCxnSpPr/>
          <p:nvPr/>
        </p:nvCxnSpPr>
        <p:spPr>
          <a:xfrm>
            <a:off x="1634247" y="3618689"/>
            <a:ext cx="1031132" cy="622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91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2BD623-890E-46A1-B571-D47A9110ABCD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Running a Python script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0FF0B-9A62-4FC5-B77F-3907C8C77E70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Open </a:t>
            </a:r>
            <a:r>
              <a:rPr sz="2250" b="0" dirty="0" err="1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main.py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, replace its contents, save it, then run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9015EA-6141-4BF1-ABB0-DFAB9B74ACA6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In </a:t>
            </a:r>
            <a:r>
              <a:rPr sz="2100" b="0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main.py</a:t>
            </a:r>
            <a:r>
              <a:rPr lang="en-US"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:</a:t>
            </a:r>
            <a:endParaRPr sz="21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print("My project is running")</a:t>
            </a:r>
          </a:p>
          <a:p>
            <a:endParaRPr sz="21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In the terminal</a:t>
            </a:r>
            <a:r>
              <a:rPr lang="en-US"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:</a:t>
            </a:r>
            <a:endParaRPr sz="21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uv</a:t>
            </a: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run python </a:t>
            </a:r>
            <a:r>
              <a:rPr sz="21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main.py</a:t>
            </a:r>
            <a:r>
              <a:rPr lang="en-US"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lang="en-US" sz="210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20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</a:t>
            </a:r>
            <a:r>
              <a:rPr lang="en-US" sz="2000" dirty="0" err="1">
                <a:solidFill>
                  <a:srgbClr val="18232D"/>
                </a:solidFill>
                <a:latin typeface="DejaVu Sans Mono"/>
              </a:rPr>
              <a:t>uv</a:t>
            </a:r>
            <a:r>
              <a:rPr lang="en-US" sz="2000" dirty="0">
                <a:solidFill>
                  <a:srgbClr val="18232D"/>
                </a:solidFill>
                <a:latin typeface="DejaVu Sans Mono"/>
              </a:rPr>
              <a:t> run executes a command using the Python environment and dependencies associated with your project.</a:t>
            </a:r>
            <a:endParaRPr sz="20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89A5BA-B08C-457D-AE8B-3DED97593120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Expected output: My project is running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7ED94EAF-ED3F-5339-8165-4EA2CA5AAD10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13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0340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C96593-29DF-4A89-B1C3-732E59EF8477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Creating a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2DCFE-1550-4ECE-BF24-AC041DC5A3B4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A notebook combines explanatory text, Python code, and results.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BD838074-7ED2-551B-B5B8-14F8A6B5AEB6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14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FF2DD-687E-408C-931B-9EED092FD8CD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858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Open the Command Palette: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Cmd+Shift+P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/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Ctrl+Shift+P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Choose Create: New Jupyter Notebook.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Save as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analysis.ipynb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inside workshop-project.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Add a Markdown cell with the title: #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Practice analysis.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5. Add a Code cell for the first Python commands.</a:t>
            </a:r>
          </a:p>
        </p:txBody>
      </p:sp>
    </p:spTree>
    <p:extLst>
      <p:ext uri="{BB962C8B-B14F-4D97-AF65-F5344CB8AC3E}">
        <p14:creationId xmlns:p14="http://schemas.microsoft.com/office/powerpoint/2010/main" val="61032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A3B6F1-0DD3-4700-89C2-F623D95EB8DF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Notebook kernel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2600F0-2558-426F-BAD4-FBFC7A95DB73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A kernel runs notebook cells and keeps their variables in memory.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2A9A99-ADD0-4F78-B19A-6D300F18B5F6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ipykernel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enables Python to act as a notebook kernel.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Open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analysis.ipynb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.</a:t>
            </a:r>
            <a:endParaRPr lang="en-US"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Click Select Kernel at the upper right.</a:t>
            </a:r>
            <a:endParaRPr dirty="0"/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Choose Python Environments 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Select .</a:t>
            </a:r>
            <a:r>
              <a:rPr lang="en-US" sz="210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venv</a:t>
            </a:r>
            <a:r>
              <a:rPr lang="en-US" sz="210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inside this project folder</a:t>
            </a: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D459EC-CE6D-48C2-982B-1F45C896233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24F46E50-091D-5687-B215-0D9D6A1E3835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15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774545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765EDB-BFAC-44A1-B37C-A609B40BB0FB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Checking the selected Python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83F0F-BED4-46E0-8F80-DE8B824A6B5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Check that the notebook uses this project’s Python and can import pandas.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BA5583-3DE4-4F59-A269-9717554340BD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import sys 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 Access information about the running Python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import pandas as pd 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 Load pandas under the name pd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210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print(sys.executable) 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 Path to Python running this notebook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print(pd.__version__) </a:t>
            </a:r>
            <a:r>
              <a:rPr sz="2100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# Optional: show the pandas 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E6FBD-49D9-4858-B860-5A58F1C2BFE1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The Python path should point inside this project’s .venv.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0733092F-7C94-5BDA-A85F-0BF29733A98C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16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559553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C632D5-3622-472B-ADC1-2B41D853038B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Adding the practice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6D791-B473-4128-AAF9-20FBF4E4DAE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The main exercise uses a supplied CSV. 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112C3BBD-EE1C-5023-AA87-1040152143DD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17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44685-9EE4-43F1-A4AD-531334EE7276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In Explorer, create a data folder inside workshop-project.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Download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practice.csv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and move it into data using Finder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or File Explorer.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Open data/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practice.csv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in VS Code to inspect its contents.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168378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1C4CB8-FD96-4598-890A-A9C3E4C7D1C8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rPr>
              <a:t>Optional: creating a DataFrame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EE6FE-C864-4025-9A1C-5337633AAF65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rPr>
              <a:t>Column names become dictionary keys. Lists supply the column values.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84AE1842-46F2-52F3-BA36-1A6CC3092058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18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00C6D-3238-463F-89CC-ACE87848EAA9}"/>
              </a:ext>
            </a:extLst>
          </p:cNvPr>
          <p:cNvSpPr>
            <a:spLocks noGrp="1"/>
          </p:cNvSpPr>
          <p:nvPr/>
        </p:nvSpPr>
        <p:spPr>
          <a:xfrm>
            <a:off x="742950" y="2543175"/>
            <a:ext cx="10858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import pandas as pd</a:t>
            </a:r>
          </a:p>
          <a:p>
            <a:endParaRPr sz="1875" b="0">
              <a:solidFill>
                <a:srgbClr val="444B4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data = pd.DataFrame({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    "participant": [1, 2, 3, 4, 5, 6],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    "condition": [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        "congruent", "congruent", "congruent",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        "incongruent", "incongruent", "incongruent"],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    "rt_ms": [400, 500, 600, 500, 600, 700]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})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125370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D9A22F-BDB6-47F6-B718-91252D148DA1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rPr>
              <a:t>Optional: saving a CSV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E1EE0-5B3B-4F18-9035-CD92F5640589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535B5D"/>
                </a:solidFill>
                <a:latin typeface="Bitstream Charter"/>
                <a:ea typeface="Bitstream Charter"/>
                <a:cs typeface="Bitstream Charter"/>
              </a:rPr>
              <a:t>A DataFrame is a table in memory. A CSV is a text file on disk.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648983E0-F139-5029-826B-C21A994A1576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19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062BB-F5DD-4227-AD95-412F9891B56B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from pathlib import Path</a:t>
            </a:r>
          </a:p>
          <a:p>
            <a:endParaRPr sz="2025" b="0">
              <a:solidFill>
                <a:srgbClr val="444B4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Path("data").mkdir(exist_ok=True)</a:t>
            </a:r>
          </a:p>
          <a:p>
            <a:pPr>
              <a:lnSpc>
                <a:spcPct val="115000"/>
              </a:lnSpc>
              <a:buNone/>
              <a:def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444B4D"/>
                </a:solidFill>
                <a:latin typeface="DejaVu Sans Mono"/>
                <a:ea typeface="DejaVu Sans Mono"/>
                <a:cs typeface="DejaVu Sans Mono"/>
              </a:rPr>
              <a:t>data.to_csv("data/practice.csv", index=False)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11F26F-CF74-4445-AC15-1EDF66CD5EB1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10858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444B4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444B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444B4D"/>
                </a:solidFill>
                <a:latin typeface="Bitstream Charter"/>
                <a:ea typeface="Bitstream Charter"/>
                <a:cs typeface="Bitstream Charter"/>
              </a:rPr>
              <a:t>index=False leaves out pandas’ automatic row index.</a:t>
            </a:r>
          </a:p>
          <a:p>
            <a:endParaRPr sz="2100" b="0">
              <a:solidFill>
                <a:srgbClr val="444B4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444B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444B4D"/>
                </a:solidFill>
                <a:latin typeface="Bitstream Charter"/>
                <a:ea typeface="Bitstream Charter"/>
                <a:cs typeface="Bitstream Charter"/>
              </a:rPr>
              <a:t>Open the saved CSV to see its header, commas, and rows.</a:t>
            </a:r>
          </a:p>
        </p:txBody>
      </p:sp>
    </p:spTree>
    <p:extLst>
      <p:ext uri="{BB962C8B-B14F-4D97-AF65-F5344CB8AC3E}">
        <p14:creationId xmlns:p14="http://schemas.microsoft.com/office/powerpoint/2010/main" val="1289286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BBFE74-2836-4725-BBD5-F07586B770CA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The practice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DD3698-991B-4F99-B0FD-C9ECE76D63B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Stroop task: identify the font color while ignoring the word.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12B68-9A3F-4D71-8B8F-69C06385CE42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533400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Columns: participant, condition, </a:t>
            </a:r>
            <a:r>
              <a:rPr sz="18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rt_ms</a:t>
            </a:r>
            <a:endParaRPr sz="18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Each row represents one invented participant’s mean response time.</a:t>
            </a:r>
          </a:p>
          <a:p>
            <a:endParaRPr sz="18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Congruent</a:t>
            </a: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400, 500, 600 </a:t>
            </a:r>
            <a:r>
              <a:rPr sz="18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ms.</a:t>
            </a: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Mean = 500 </a:t>
            </a:r>
            <a:r>
              <a:rPr sz="18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ms.</a:t>
            </a:r>
            <a:endParaRPr sz="18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18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Incongruent</a:t>
            </a: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500, 600, 700 </a:t>
            </a:r>
            <a:r>
              <a:rPr sz="18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ms.</a:t>
            </a:r>
            <a:r>
              <a:rPr sz="18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Mean = 600 </a:t>
            </a:r>
            <a:r>
              <a:rPr sz="18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ms.</a:t>
            </a:r>
            <a:endParaRPr sz="18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C5FB9-BE56-4001-A48E-06AC609E8F1F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46D562B8-D003-5C0F-A70B-D63129A3F1C1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20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7" name="Picture 6" descr="Simulating Stroop effects with ChatGPT – crumplab">
            <a:extLst>
              <a:ext uri="{FF2B5EF4-FFF2-40B4-BE49-F238E27FC236}">
                <a16:creationId xmlns:a16="http://schemas.microsoft.com/office/drawing/2014/main" id="{DA8E334F-087C-D1C3-29CD-CE980F07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263775"/>
            <a:ext cx="53340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66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C7ED0F-744C-4530-9CA8-10EC134403C8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Loading the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70D6B-ACAA-4554-8448-129BDA1E9B38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The path tells pandas which file to read.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8E8B74-975F-4BD3-B48B-1DA152639C4A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data = </a:t>
            </a:r>
            <a:r>
              <a:rPr sz="21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pd.read_csv</a:t>
            </a: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("data/</a:t>
            </a:r>
            <a:r>
              <a:rPr sz="21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practice.csv</a:t>
            </a: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")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print(data)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D49250-BDB7-4743-A92F-F1283A725776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Expected: the header and all six rows.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0D4E5252-4A24-5AB8-948B-6F3947057024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21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576792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55DE5E-597A-477A-AAD8-FC8CBB2D9013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Calculating a mean for each condition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A32291-EB5B-43E6-8765-17DCD1115000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Group the rows, choose reaction time, then calculate the mean.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13B81-0175-4C63-9DC7-55B1E21D83F2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means = </a:t>
            </a:r>
            <a:r>
              <a:rPr sz="21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data.groupby</a:t>
            </a: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("condition")["</a:t>
            </a:r>
            <a:r>
              <a:rPr sz="2100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rt_ms</a:t>
            </a: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"].mean()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print(means)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103660-837C-42FE-876D-C4DADE989599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Expected: congruent = 500 ms, incongruent = 600 ms.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52408913-B2BA-5DC8-BC06-802D422B68E2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22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807365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057B3F-B5F3-4FE5-8770-92537E588F1B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Making and saving the figure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67891-93CE-4608-9CBF-7777FD011985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The last cell makes a plot and writes it to outputs/means.png.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8FC0B7-6797-48E5-A28C-14748E40D423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from 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pathlib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import Path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import 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matplotlib.pyplot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 as 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plt</a:t>
            </a:r>
            <a:endParaRPr sz="1875" b="0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  <a:p>
            <a:endParaRPr sz="1875" b="0" dirty="0">
              <a:solidFill>
                <a:srgbClr val="18232D"/>
              </a:solidFill>
              <a:highlight>
                <a:srgbClr val="FFFF00"/>
              </a:highlight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Path("outputs").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mkdir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exist_ok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=True)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means.plot.bar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ylabel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="Mean reaction time (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ms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)", rot=0)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plt.title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("</a:t>
            </a:r>
            <a:r>
              <a:rPr lang="en-US"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Practice 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data")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plt.tight_layout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()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plt.savefig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("outputs/</a:t>
            </a: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means.png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")</a:t>
            </a:r>
          </a:p>
          <a:p>
            <a:pPr>
              <a:lnSpc>
                <a:spcPct val="115000"/>
              </a:lnSpc>
              <a:buNone/>
              <a:defRPr sz="187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 dirty="0" err="1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plt.show</a:t>
            </a:r>
            <a:r>
              <a:rPr sz="187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232FE4-146C-45A4-9052-C75B6D3603CB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5C41936E-8327-5523-A294-D07B5A628FB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23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46244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312D25-C1E0-4535-B493-3CD426BFBE66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Execution order and notebook memory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CF3E1-7150-405C-943C-976EAB2A8A33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The kernel remembers variables created by earlier cells.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8ECB-8C67-4504-8F55-ED2C4A6DE1C9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Restart the kernel: data and means disappear from memory.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dirty="0">
                <a:solidFill>
                  <a:srgbClr val="18232D"/>
                </a:solidFill>
                <a:latin typeface="Bitstream Charter"/>
              </a:rPr>
              <a:t>Run the cell that calculates the condition means before loading the data: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expect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NameError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Run all cells from the beginning: results 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will 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return.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Saving edits does not run code or update previous outputs.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25604-3E4B-4532-806B-F6F6C0C7AAE4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B5A52598-5D91-593E-AED3-BBE803FA0868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24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407449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8CE612-52B8-4DE4-867C-4FE5859F15AD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Project organization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8FFC8C-66D0-4592-9436-93485F92DC3E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Keep inputs, analysis, and generated results easy to locate.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B3797A-2865-40E6-8D3A-2818F241491C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data/             Input CSV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analysis.ipynb    Explanations and analysis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outputs/          Generated figures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README.md         Purpose, setup, and run instructions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3AD49E-03E6-40AC-B888-35AF17D1989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73F6A463-1FFF-53A6-A09A-0286248CEFB5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25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2086374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119953-1FA1-4346-8226-8F88EDE8D0BE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Example 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error</a:t>
            </a: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messages</a:t>
            </a:r>
            <a:endParaRPr sz="3300" b="1" dirty="0">
              <a:solidFill>
                <a:srgbClr val="173F4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05B5CE-3DBD-44D9-B81B-0E9B8DAD19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Identify the message and the failing line before changing things.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9BBC64-5377-48A6-86D5-FA71FDC91F1A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FileNotFoundError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check folder, path, and spelling.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ModuleNotFoundError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check package installation and kernel.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NameError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: check earlier cells and variable names.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Notebook location check: print(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Path.cwd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())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56276-122C-4D46-8946-2796C66712C7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EDB81CB8-86F6-5D22-845F-F48A8017836D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26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654015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EDDC3C-A08F-4D5C-B251-22E70830D462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Git and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F778A-70E4-454D-B510-348FDF6C9CDE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Git records versions locally. GitHub hosts a copy online.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E4347-174E-4555-8A68-23ED185A25D4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Save: write your edits to disk.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Stage: select changes for the next recorded version.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Commit: record that version with a message.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Push: send local commits to GitHub.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0E821-FC24-4E55-AFF6-297918851BB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FEB4E497-85B1-505E-8187-D4FC2FE93F16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27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6866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95AC25-F87A-4F53-9C9E-0332AB798246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What is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.</a:t>
            </a:r>
            <a:r>
              <a:rPr sz="3300" b="1" dirty="0" err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gitignore</a:t>
            </a: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? </a:t>
            </a:r>
            <a:endParaRPr sz="3300" b="1" dirty="0">
              <a:solidFill>
                <a:srgbClr val="173F4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04462B-73E1-493C-9F3E-BEA29AA97CDD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00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250" dirty="0" err="1">
                <a:solidFill>
                  <a:srgbClr val="26333A"/>
                </a:solidFill>
                <a:latin typeface="Bitstream Charter"/>
              </a:rPr>
              <a:t>Open .gitignore. Keep its contents, add the patterns on the left, and save.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371410F8-7182-5DC8-8EFE-8D450614699B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28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2D25E0-0142-47A9-BD4C-30E1AC7CC494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Git leaves matching untracked files out of commits.</a:t>
            </a:r>
          </a:p>
        </p:txBody>
      </p:sp>
      <p:sp>
        <p:nvSpPr>
          <p:cNvPr id="7" name="pattern-0">
            <a:extLst>
              <a:ext uri="{FF2B5EF4-FFF2-40B4-BE49-F238E27FC236}">
                <a16:creationId xmlns:a16="http://schemas.microsoft.com/office/drawing/2014/main" id="{3512D774-900B-45EC-ADE2-E803A168B21E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3381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.venv/</a:t>
            </a:r>
          </a:p>
        </p:txBody>
      </p:sp>
      <p:sp>
        <p:nvSpPr>
          <p:cNvPr id="8" name="reason-0">
            <a:extLst>
              <a:ext uri="{FF2B5EF4-FFF2-40B4-BE49-F238E27FC236}">
                <a16:creationId xmlns:a16="http://schemas.microsoft.com/office/drawing/2014/main" id="{1987A38D-D35B-4E38-9786-5CE08AFC8123}"/>
              </a:ext>
            </a:extLst>
          </p:cNvPr>
          <p:cNvSpPr>
            <a:spLocks noGrp="1"/>
          </p:cNvSpPr>
          <p:nvPr/>
        </p:nvSpPr>
        <p:spPr>
          <a:xfrm>
            <a:off x="4333875" y="2619375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Installed Python and packages; recreate on each computer.</a:t>
            </a:r>
          </a:p>
        </p:txBody>
      </p:sp>
      <p:sp>
        <p:nvSpPr>
          <p:cNvPr id="9" name="pattern-1">
            <a:extLst>
              <a:ext uri="{FF2B5EF4-FFF2-40B4-BE49-F238E27FC236}">
                <a16:creationId xmlns:a16="http://schemas.microsoft.com/office/drawing/2014/main" id="{CB744995-C6D3-4050-89DC-3806D7821945}"/>
              </a:ext>
            </a:extLst>
          </p:cNvPr>
          <p:cNvSpPr>
            <a:spLocks noGrp="1"/>
          </p:cNvSpPr>
          <p:nvPr/>
        </p:nvSpPr>
        <p:spPr>
          <a:xfrm>
            <a:off x="742950" y="3076575"/>
            <a:ext cx="3381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FF00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 dirty="0">
                <a:solidFill>
                  <a:schemeClr val="tx1"/>
                </a:solidFill>
                <a:latin typeface="DejaVu Sans Mono"/>
                <a:ea typeface="DejaVu Sans Mono"/>
                <a:cs typeface="DejaVu Sans Mono"/>
              </a:rPr>
              <a:t>outputs/</a:t>
            </a:r>
          </a:p>
        </p:txBody>
      </p:sp>
      <p:sp>
        <p:nvSpPr>
          <p:cNvPr id="10" name="reason-1">
            <a:extLst>
              <a:ext uri="{FF2B5EF4-FFF2-40B4-BE49-F238E27FC236}">
                <a16:creationId xmlns:a16="http://schemas.microsoft.com/office/drawing/2014/main" id="{2E7B141E-E6A2-4412-9879-BD0D1C9EB412}"/>
              </a:ext>
            </a:extLst>
          </p:cNvPr>
          <p:cNvSpPr>
            <a:spLocks noGrp="1"/>
          </p:cNvSpPr>
          <p:nvPr/>
        </p:nvSpPr>
        <p:spPr>
          <a:xfrm>
            <a:off x="4333875" y="3076575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Generated figures; excluded for this exercise.</a:t>
            </a:r>
          </a:p>
        </p:txBody>
      </p:sp>
      <p:sp>
        <p:nvSpPr>
          <p:cNvPr id="11" name="pattern-2">
            <a:extLst>
              <a:ext uri="{FF2B5EF4-FFF2-40B4-BE49-F238E27FC236}">
                <a16:creationId xmlns:a16="http://schemas.microsoft.com/office/drawing/2014/main" id="{DEF3EED2-23EE-490B-9B6B-A7399ADB7208}"/>
              </a:ext>
            </a:extLst>
          </p:cNvPr>
          <p:cNvSpPr>
            <a:spLocks noGrp="1"/>
          </p:cNvSpPr>
          <p:nvPr/>
        </p:nvSpPr>
        <p:spPr>
          <a:xfrm>
            <a:off x="742950" y="3533775"/>
            <a:ext cx="3381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__</a:t>
            </a:r>
            <a:r>
              <a:rPr sz="2025" b="0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pycache</a:t>
            </a:r>
            <a:r>
              <a:rPr sz="2025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__/</a:t>
            </a:r>
          </a:p>
        </p:txBody>
      </p:sp>
      <p:sp>
        <p:nvSpPr>
          <p:cNvPr id="12" name="reason-2">
            <a:extLst>
              <a:ext uri="{FF2B5EF4-FFF2-40B4-BE49-F238E27FC236}">
                <a16:creationId xmlns:a16="http://schemas.microsoft.com/office/drawing/2014/main" id="{72C3B791-6CFE-4EEF-A5AA-F2894CA4EF75}"/>
              </a:ext>
            </a:extLst>
          </p:cNvPr>
          <p:cNvSpPr>
            <a:spLocks noGrp="1"/>
          </p:cNvSpPr>
          <p:nvPr/>
        </p:nvSpPr>
        <p:spPr>
          <a:xfrm>
            <a:off x="4333875" y="3533775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Python’s automatically generated bytecode cache.</a:t>
            </a:r>
          </a:p>
        </p:txBody>
      </p:sp>
      <p:sp>
        <p:nvSpPr>
          <p:cNvPr id="13" name="pattern-3">
            <a:extLst>
              <a:ext uri="{FF2B5EF4-FFF2-40B4-BE49-F238E27FC236}">
                <a16:creationId xmlns:a16="http://schemas.microsoft.com/office/drawing/2014/main" id="{5A67AEB8-016B-4642-9BD3-25D816E7ABD5}"/>
              </a:ext>
            </a:extLst>
          </p:cNvPr>
          <p:cNvSpPr>
            <a:spLocks noGrp="1"/>
          </p:cNvSpPr>
          <p:nvPr/>
        </p:nvSpPr>
        <p:spPr>
          <a:xfrm>
            <a:off x="742950" y="3990975"/>
            <a:ext cx="3381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2025" b="0" dirty="0" err="1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ipynb_checkpoints</a:t>
            </a:r>
            <a:r>
              <a:rPr sz="2025" b="0" dirty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/</a:t>
            </a:r>
          </a:p>
        </p:txBody>
      </p:sp>
      <p:sp>
        <p:nvSpPr>
          <p:cNvPr id="14" name="reason-3">
            <a:extLst>
              <a:ext uri="{FF2B5EF4-FFF2-40B4-BE49-F238E27FC236}">
                <a16:creationId xmlns:a16="http://schemas.microsoft.com/office/drawing/2014/main" id="{0CDACED7-D5A1-4BCD-AD39-F5551E00ACB9}"/>
              </a:ext>
            </a:extLst>
          </p:cNvPr>
          <p:cNvSpPr>
            <a:spLocks noGrp="1"/>
          </p:cNvSpPr>
          <p:nvPr/>
        </p:nvSpPr>
        <p:spPr>
          <a:xfrm>
            <a:off x="4333875" y="3990975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Jupyter’s automatic checkpoint copies.</a:t>
            </a:r>
          </a:p>
        </p:txBody>
      </p:sp>
      <p:sp>
        <p:nvSpPr>
          <p:cNvPr id="15" name="pattern-4">
            <a:extLst>
              <a:ext uri="{FF2B5EF4-FFF2-40B4-BE49-F238E27FC236}">
                <a16:creationId xmlns:a16="http://schemas.microsoft.com/office/drawing/2014/main" id="{5C28404E-93EC-474F-9F7B-1D38B1A34D75}"/>
              </a:ext>
            </a:extLst>
          </p:cNvPr>
          <p:cNvSpPr>
            <a:spLocks noGrp="1"/>
          </p:cNvSpPr>
          <p:nvPr/>
        </p:nvSpPr>
        <p:spPr>
          <a:xfrm>
            <a:off x="742950" y="4448175"/>
            <a:ext cx="3381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.env</a:t>
            </a:r>
          </a:p>
        </p:txBody>
      </p:sp>
      <p:sp>
        <p:nvSpPr>
          <p:cNvPr id="16" name="reason-4">
            <a:extLst>
              <a:ext uri="{FF2B5EF4-FFF2-40B4-BE49-F238E27FC236}">
                <a16:creationId xmlns:a16="http://schemas.microsoft.com/office/drawing/2014/main" id="{20970DF3-B477-42DE-9325-DFC5C58E43C5}"/>
              </a:ext>
            </a:extLst>
          </p:cNvPr>
          <p:cNvSpPr>
            <a:spLocks noGrp="1"/>
          </p:cNvSpPr>
          <p:nvPr/>
        </p:nvSpPr>
        <p:spPr>
          <a:xfrm>
            <a:off x="4333875" y="4448175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Local settings that can contain passwords or API keys.</a:t>
            </a:r>
          </a:p>
        </p:txBody>
      </p:sp>
      <p:sp>
        <p:nvSpPr>
          <p:cNvPr id="17" name="pattern-5">
            <a:extLst>
              <a:ext uri="{FF2B5EF4-FFF2-40B4-BE49-F238E27FC236}">
                <a16:creationId xmlns:a16="http://schemas.microsoft.com/office/drawing/2014/main" id="{E3391B7F-A6AE-4102-9FFC-AC09C38B5FF3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3381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.DS_Store</a:t>
            </a:r>
          </a:p>
        </p:txBody>
      </p:sp>
      <p:sp>
        <p:nvSpPr>
          <p:cNvPr id="18" name="reason-5">
            <a:extLst>
              <a:ext uri="{FF2B5EF4-FFF2-40B4-BE49-F238E27FC236}">
                <a16:creationId xmlns:a16="http://schemas.microsoft.com/office/drawing/2014/main" id="{F66E786B-A377-4A83-AD6C-4F2CB93A741F}"/>
              </a:ext>
            </a:extLst>
          </p:cNvPr>
          <p:cNvSpPr>
            <a:spLocks noGrp="1"/>
          </p:cNvSpPr>
          <p:nvPr/>
        </p:nvSpPr>
        <p:spPr>
          <a:xfrm>
            <a:off x="4333875" y="4905375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macOS folder-display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744913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17B8838-1BE8-4D3D-836D-6E340EE89EED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Git identity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D5B87F37-55F6-4A37-A0E6-71B027E02BDA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Before the first commit, set the author for this project.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6D1F06A3-0C81-5F55-BB4B-CC75EFCBAD3F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29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commands">
            <a:extLst>
              <a:ext uri="{FF2B5EF4-FFF2-40B4-BE49-F238E27FC236}">
                <a16:creationId xmlns:a16="http://schemas.microsoft.com/office/drawing/2014/main" id="{E03175AF-B21F-4081-B97E-971903BB2A4C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10706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git config user.name "Your Name"</a:t>
            </a: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 dirty="0">
                <a:solidFill>
                  <a:srgbClr val="18232D"/>
                </a:solidFill>
                <a:highlight>
                  <a:srgbClr val="FFFF00"/>
                </a:highlight>
                <a:latin typeface="DejaVu Sans Mono"/>
                <a:ea typeface="DejaVu Sans Mono"/>
                <a:cs typeface="DejaVu Sans Mono"/>
              </a:rPr>
              <a:t>git config user.email "your-chosen-email@example.com"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563FB98-4C1D-497B-909C-8E54F45D53B1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107061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Run these in the terminal inside workshop-project.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Replace the example name and email with your own.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Commits record this name and email as their author.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GitHub sign-in lets VS Code upload commits to your account.</a:t>
            </a:r>
          </a:p>
        </p:txBody>
      </p:sp>
    </p:spTree>
    <p:extLst>
      <p:ext uri="{BB962C8B-B14F-4D97-AF65-F5344CB8AC3E}">
        <p14:creationId xmlns:p14="http://schemas.microsoft.com/office/powerpoint/2010/main" val="1144445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E2AA27FE-A230-4EC5-AD54-AD4583CAD64F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The first commit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FB520197-1AC9-4A37-A39A-AAC3213126A6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uv initialized Git. Now record the project’s first version locally.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F364BA08-4BA3-5860-9DB4-BD257E364CF5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30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s">
            <a:extLst>
              <a:ext uri="{FF2B5EF4-FFF2-40B4-BE49-F238E27FC236}">
                <a16:creationId xmlns:a16="http://schemas.microsoft.com/office/drawing/2014/main" id="{36F0AC9C-C48E-457E-AF95-9C6294767A5B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Save your files. Open Source Control in the left sidebar.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Click each file to inspect it, then click its + to stage it.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Check Staged Changes: include code, CSV, README,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.gitignore, and the environment configuration files.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Enter Add practice analysis in the message box.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5. Click Commit. In the terminal, run git status.</a:t>
            </a:r>
          </a:p>
        </p:txBody>
      </p:sp>
    </p:spTree>
    <p:extLst>
      <p:ext uri="{BB962C8B-B14F-4D97-AF65-F5344CB8AC3E}">
        <p14:creationId xmlns:p14="http://schemas.microsoft.com/office/powerpoint/2010/main" val="1325366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177023E-F71A-4C6E-B90D-A04F3EA3B265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Publishing to your GitHub account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E0312C20-EAD6-402F-8602-97FE55A4C57A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VS Code can create the GitHub repository and upload your commits.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40EC1E0A-09E2-57D7-887D-FC70D86E6302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31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s">
            <a:extLst>
              <a:ext uri="{FF2B5EF4-FFF2-40B4-BE49-F238E27FC236}">
                <a16:creationId xmlns:a16="http://schemas.microsoft.com/office/drawing/2014/main" id="{3BAE5E01-796C-4466-BA18-DD13F8505A69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Open the Command Palette: Cmd+Shift+P / Ctrl+Shift+P.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Search for Publish to GitHub and select it.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If prompted, sign in in the browser, then return to VS Code.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Name the repository workshop-project.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Choose a private repository for this exercise.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5. Finish publishing. If the name is taken, use a new name.</a:t>
            </a:r>
          </a:p>
        </p:txBody>
      </p:sp>
    </p:spTree>
    <p:extLst>
      <p:ext uri="{BB962C8B-B14F-4D97-AF65-F5344CB8AC3E}">
        <p14:creationId xmlns:p14="http://schemas.microsoft.com/office/powerpoint/2010/main" val="102316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F8AC0915-AE5C-43D3-AF6F-9B231C8F005E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Your project on GitHub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F784DB8E-241A-495A-8680-850293424A3D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Check the actual repository under your own account.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A6F46176-0E38-500C-843F-B4BE4C138CE3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32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s">
            <a:extLst>
              <a:ext uri="{FF2B5EF4-FFF2-40B4-BE49-F238E27FC236}">
                <a16:creationId xmlns:a16="http://schemas.microsoft.com/office/drawing/2014/main" id="{3A502F57-D7C1-499A-91B4-6368CD2162FD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In your browser, sign in at github.com.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Profile menu &gt; Your repositories &gt; open workshop-project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(or the name you chose).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Check that the page shows your username / repository name.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Open analysis.ipynb and data/practice.csv. Read the README.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5. Open the commits list. Find Add practice analysis.</a:t>
            </a:r>
          </a:p>
        </p:txBody>
      </p:sp>
    </p:spTree>
    <p:extLst>
      <p:ext uri="{BB962C8B-B14F-4D97-AF65-F5344CB8AC3E}">
        <p14:creationId xmlns:p14="http://schemas.microsoft.com/office/powerpoint/2010/main" val="1480509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230CFEA8-2D30-4780-AA03-4C8B63EF6D23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Reviewing a change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BCD904F6-68D6-41A4-9292-605F90F4EEB3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A </a:t>
            </a:r>
            <a:r>
              <a:rPr lang="en-US"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"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diff</a:t>
            </a:r>
            <a:r>
              <a:rPr lang="en-US"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"</a:t>
            </a: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 compares your saved edits with the last committed version.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633CFF03-4A84-55EB-BE88-3C5B0EF358B1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33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1">
            <a:extLst>
              <a:ext uri="{FF2B5EF4-FFF2-40B4-BE49-F238E27FC236}">
                <a16:creationId xmlns:a16="http://schemas.microsoft.com/office/drawing/2014/main" id="{6794CA66-BD7A-4F61-8160-6C2A10E7C0F5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In analysis.ipynb, change the plot title to:</a:t>
            </a:r>
          </a:p>
        </p:txBody>
      </p:sp>
      <p:sp>
        <p:nvSpPr>
          <p:cNvPr id="5" name="title-code">
            <a:extLst>
              <a:ext uri="{FF2B5EF4-FFF2-40B4-BE49-F238E27FC236}">
                <a16:creationId xmlns:a16="http://schemas.microsoft.com/office/drawing/2014/main" id="{B1AA8AF8-9F57-4A82-891C-BC084D85B2BF}"/>
              </a:ext>
            </a:extLst>
          </p:cNvPr>
          <p:cNvSpPr>
            <a:spLocks noGrp="1"/>
          </p:cNvSpPr>
          <p:nvPr/>
        </p:nvSpPr>
        <p:spPr>
          <a:xfrm>
            <a:off x="742950" y="3095625"/>
            <a:ext cx="10706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rPr>
              <a:t>plt.title("Stroop practice: response times")</a:t>
            </a:r>
          </a:p>
        </p:txBody>
      </p:sp>
      <p:sp>
        <p:nvSpPr>
          <p:cNvPr id="6" name="steps">
            <a:extLst>
              <a:ext uri="{FF2B5EF4-FFF2-40B4-BE49-F238E27FC236}">
                <a16:creationId xmlns:a16="http://schemas.microsoft.com/office/drawing/2014/main" id="{053EBD63-D19B-4644-9961-EC3A735D2B44}"/>
              </a:ext>
            </a:extLst>
          </p:cNvPr>
          <p:cNvSpPr>
            <a:spLocks noGrp="1"/>
          </p:cNvSpPr>
          <p:nvPr/>
        </p:nvSpPr>
        <p:spPr>
          <a:xfrm>
            <a:off x="742950" y="4048125"/>
            <a:ext cx="10706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Rerun the plot cell, then save the notebook.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Open 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"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Source Control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"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. Under Changes, click </a:t>
            </a:r>
            <a:r>
              <a:rPr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analysis.ipynb</a:t>
            </a: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Inspect the old and new code in the diff.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Saved outputs or notebook metadata may also differ.</a:t>
            </a:r>
          </a:p>
        </p:txBody>
      </p:sp>
    </p:spTree>
    <p:extLst>
      <p:ext uri="{BB962C8B-B14F-4D97-AF65-F5344CB8AC3E}">
        <p14:creationId xmlns:p14="http://schemas.microsoft.com/office/powerpoint/2010/main" val="860146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D1D3673-7377-47B8-A9AE-88D9D8E29083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Committing and pushing the update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D1A033CD-3AB4-4C25-B644-BA9A85EABD2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Commit records the version locally. Push uploads the commit.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6F207C61-9864-55BF-89EF-FDC5317BCA12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34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s">
            <a:extLst>
              <a:ext uri="{FF2B5EF4-FFF2-40B4-BE49-F238E27FC236}">
                <a16:creationId xmlns:a16="http://schemas.microsoft.com/office/drawing/2014/main" id="{ED814A90-9F8E-4B1E-9BA6-BBC5643CFAA1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In Source Control, click + beside analysis.ipynb.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Enter Update plot title in the message box. Click Commit.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Command Palette &gt; Git: Push.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Refresh your repository page on GitHub.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Check the commits list for Update plot title.</a:t>
            </a:r>
          </a:p>
          <a:p>
            <a:endParaRPr sz="2100" b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5. Open analysis.ipynb and find the new plot title.</a:t>
            </a:r>
          </a:p>
        </p:txBody>
      </p:sp>
    </p:spTree>
    <p:extLst>
      <p:ext uri="{BB962C8B-B14F-4D97-AF65-F5344CB8AC3E}">
        <p14:creationId xmlns:p14="http://schemas.microsoft.com/office/powerpoint/2010/main" val="1989310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B2F4E63-2242-4558-BDCC-4CD775673E0C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Cloning: getting a local copy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916E8540-82CF-4D72-94E1-459C935E77EB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Use this for your project on another computer, or a shared project.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F5387860-FBD4-5F4F-9E8A-005D19727ED0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35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s">
            <a:extLst>
              <a:ext uri="{FF2B5EF4-FFF2-40B4-BE49-F238E27FC236}">
                <a16:creationId xmlns:a16="http://schemas.microsoft.com/office/drawing/2014/main" id="{4B73D5E8-9F45-421F-A9F0-3FF7B2733E47}"/>
              </a:ext>
            </a:extLst>
          </p:cNvPr>
          <p:cNvSpPr>
            <a:spLocks noGrp="1"/>
          </p:cNvSpPr>
          <p:nvPr/>
        </p:nvSpPr>
        <p:spPr>
          <a:xfrm>
            <a:off x="742950" y="2524125"/>
            <a:ext cx="10706100" cy="3667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Optional practice: make a second copy on this computer.</a:t>
            </a:r>
          </a:p>
          <a:p>
            <a:endParaRPr sz="202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On GitHub: copy the repository URL.</a:t>
            </a:r>
          </a:p>
          <a:p>
            <a:endParaRPr sz="202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Create workshop-copies on the Desktop, outside the original project.</a:t>
            </a:r>
          </a:p>
          <a:p>
            <a:endParaRPr sz="202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VS Code: File &gt; New Window.</a:t>
            </a: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  Command Palette &gt; Git: Clone &gt; paste the URL.</a:t>
            </a:r>
          </a:p>
          <a:p>
            <a:endParaRPr sz="202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Choose workshop-copies as the destination.</a:t>
            </a:r>
          </a:p>
          <a:p>
            <a:endParaRPr sz="2025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025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5. Open the cloned project when prompted.</a:t>
            </a:r>
          </a:p>
        </p:txBody>
      </p:sp>
    </p:spTree>
    <p:extLst>
      <p:ext uri="{BB962C8B-B14F-4D97-AF65-F5344CB8AC3E}">
        <p14:creationId xmlns:p14="http://schemas.microsoft.com/office/powerpoint/2010/main" val="860552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16BEBD0E-1129-44C4-A386-B61BDC6BB3EF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The cloned project’s environment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053E8779-E89C-4B16-B932-78E6E51087A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uv sync creates this clone’s .venv using pyproject.toml and uv.lock.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E590AAD6-23E0-5A2B-AB76-607F5D89973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36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steps1">
            <a:extLst>
              <a:ext uri="{FF2B5EF4-FFF2-40B4-BE49-F238E27FC236}">
                <a16:creationId xmlns:a16="http://schemas.microsoft.com/office/drawing/2014/main" id="{EBD33AB2-AB9C-444C-A630-FA32E9CD1A68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0706100" cy="3589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In the cloned project: Terminal &gt; New Terminal.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dirty="0"/>
              <a:t>2. Run </a:t>
            </a:r>
            <a:r>
              <a:rPr lang="en-US" dirty="0" err="1"/>
              <a:t>uv</a:t>
            </a:r>
            <a:r>
              <a:rPr lang="en-US" dirty="0"/>
              <a:t> sync to create its environment. We excluded .</a:t>
            </a:r>
            <a:r>
              <a:rPr lang="en-US" dirty="0" err="1"/>
              <a:t>venv</a:t>
            </a:r>
            <a:r>
              <a:rPr lang="en-US" dirty="0"/>
              <a:t> from Git, so cloning did not copy it.</a:t>
            </a: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dirty="0"/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Open </a:t>
            </a:r>
            <a:r>
              <a:rPr lang="en-US"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analysis.ipynb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. Click Select Kernel, then choose this clone’s .</a:t>
            </a:r>
            <a:r>
              <a:rPr lang="en-US" sz="2100" b="0" dirty="0" err="1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venv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 (realistically, </a:t>
            </a:r>
            <a:r>
              <a:rPr lang="en-US" dirty="0"/>
              <a:t>the original .</a:t>
            </a:r>
            <a:r>
              <a:rPr lang="en-US" dirty="0" err="1"/>
              <a:t>venv</a:t>
            </a:r>
            <a:r>
              <a:rPr lang="en-US" dirty="0"/>
              <a:t> would also work because it already has the Python and packages this notebook needs.</a:t>
            </a: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) </a:t>
            </a: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4. Run all cells. </a:t>
            </a: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00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command">
            <a:extLst>
              <a:ext uri="{FF2B5EF4-FFF2-40B4-BE49-F238E27FC236}">
                <a16:creationId xmlns:a16="http://schemas.microsoft.com/office/drawing/2014/main" id="{9EA4DFD8-D27F-4C1E-8EA1-101CC547230D}"/>
              </a:ext>
            </a:extLst>
          </p:cNvPr>
          <p:cNvSpPr>
            <a:spLocks noGrp="1"/>
          </p:cNvSpPr>
          <p:nvPr/>
        </p:nvSpPr>
        <p:spPr>
          <a:xfrm>
            <a:off x="742950" y="3762375"/>
            <a:ext cx="10706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18232D"/>
                </a:solidFill>
                <a:latin typeface="DejaVu Sans Mono"/>
                <a:ea typeface="DejaVu Sans Mono"/>
                <a:cs typeface="DejaVu Sans Mono"/>
              </a:defRPr>
            </a:pPr>
            <a:endParaRPr sz="2250" b="0" dirty="0">
              <a:solidFill>
                <a:srgbClr val="18232D"/>
              </a:solidFill>
              <a:latin typeface="DejaVu Sans Mono"/>
              <a:ea typeface="DejaVu Sans Mono"/>
              <a:cs typeface="DejaVu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1050728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9BFE3A-ACAC-4785-AAFC-1DA75E8F2EA8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Asking an agent to explain</a:t>
            </a:r>
            <a:r>
              <a:rPr lang="en-US"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lang="en-US" sz="3300" b="1" dirty="0">
                <a:latin typeface="Bitstream Charter"/>
                <a:ea typeface="Bitstream Charter"/>
                <a:cs typeface="Bitstream Charter"/>
              </a:rPr>
              <a:t>and</a:t>
            </a:r>
            <a:r>
              <a:rPr sz="3300" b="1" dirty="0">
                <a:latin typeface="Bitstream Charter"/>
                <a:ea typeface="Bitstream Charter"/>
                <a:cs typeface="Bitstream Charter"/>
              </a:rPr>
              <a:t> </a:t>
            </a:r>
            <a:r>
              <a:rPr lang="en-US" sz="3300" b="1" dirty="0">
                <a:latin typeface="Bitstream Charter"/>
                <a:ea typeface="Bitstream Charter"/>
                <a:cs typeface="Bitstream Charter"/>
              </a:rPr>
              <a:t>generate </a:t>
            </a:r>
            <a:r>
              <a:rPr sz="3300" b="1" dirty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C7B21D-190C-47FD-9B86-1D9214B3FA4B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An agent can explain or edit project files, depending on its permissions.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93BC8-5901-43D4-8C8C-2B85CE1AF9B9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“Explain how this notebook loads the data, calculates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the condition means, and saves its figure.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Do not modify files.”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Compare its explanation with the actual notebook.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2AA56-A28D-41D8-B080-743B7DCA6A11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3EC191BE-A70F-5A9B-AC12-AFA3A0F0E6D1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37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302734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11C6E5-3393-47C6-A0BC-FD9C553A11C6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Reviewing an agent’s edits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EB719B-37E6-4566-A3DB-FB72989181BE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dirty="0">
                <a:solidFill>
                  <a:srgbClr val="26333A"/>
                </a:solidFill>
                <a:latin typeface="Bitstream Charter"/>
                <a:ea typeface="Bitstream Charter"/>
                <a:cs typeface="Bitstream Charter"/>
              </a:rPr>
              <a:t>Request one change, then check it against results you already know.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0E3D08-D201-488B-85BA-802EC0518E83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“Add the number of observations per condition.</a:t>
            </a:r>
          </a:p>
          <a:p>
            <a:r>
              <a:rPr sz="2100" dirty="0">
                <a:latin typeface="Bitstream Charter"/>
                <a:ea typeface="Bitstream Charter"/>
                <a:cs typeface="Bitstream Charter"/>
              </a:rPr>
              <a:t>Preserve the existing analysis. Explain your change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before editing. Run the notebook and report what</a:t>
            </a:r>
          </a:p>
          <a:p>
            <a:r>
              <a:rPr sz="2100" dirty="0">
                <a:latin typeface="Bitstream Charter"/>
                <a:ea typeface="Bitstream Charter"/>
                <a:cs typeface="Bitstream Charter"/>
              </a:rPr>
              <a:t>you checked and what you could not verify.”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endParaRPr sz="2100" dirty="0">
              <a:latin typeface="Bitstream Charter"/>
              <a:ea typeface="Bitstream Charter"/>
              <a:cs typeface="Bitstream Charter"/>
            </a:endParaRPr>
          </a:p>
          <a:p>
            <a:r>
              <a:rPr sz="2100" dirty="0">
                <a:latin typeface="Bitstream Charter"/>
                <a:ea typeface="Bitstream Charter"/>
                <a:cs typeface="Bitstream Charter"/>
              </a:rPr>
              <a:t>Review the diff. Counts: 3 per condition. Means: congruent 500 </a:t>
            </a:r>
            <a:r>
              <a:rPr sz="2100" dirty="0" err="1">
                <a:latin typeface="Bitstream Charter"/>
                <a:ea typeface="Bitstream Charter"/>
                <a:cs typeface="Bitstream Charter"/>
              </a:rPr>
              <a:t>ms</a:t>
            </a:r>
            <a:r>
              <a:rPr sz="2100" dirty="0">
                <a:latin typeface="Bitstream Charter"/>
                <a:ea typeface="Bitstream Charter"/>
                <a:cs typeface="Bitstream Charter"/>
              </a:rPr>
              <a:t>, incongruent 600 </a:t>
            </a:r>
            <a:r>
              <a:rPr sz="2100" dirty="0" err="1">
                <a:latin typeface="Bitstream Charter"/>
                <a:ea typeface="Bitstream Charter"/>
                <a:cs typeface="Bitstream Charter"/>
              </a:rPr>
              <a:t>ms.</a:t>
            </a:r>
            <a:endParaRPr sz="2100" dirty="0"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401252-EAF5-4D90-A22F-8DB8E5D0CC8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lnSpc>
                <a:spcPct val="115000"/>
              </a:lnSpc>
              <a:buNone/>
              <a:defRPr sz="18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endParaRPr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A3D02BD6-1C53-5F61-91A0-B7DA6C34A57C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38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518539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99FC3-2057-8AC1-2856-AEE74687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-title">
            <a:extLst>
              <a:ext uri="{FF2B5EF4-FFF2-40B4-BE49-F238E27FC236}">
                <a16:creationId xmlns:a16="http://schemas.microsoft.com/office/drawing/2014/main" id="{882F71E1-6651-4383-B80A-1B74B6B615E2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Generating an analysis with an agent</a:t>
            </a:r>
          </a:p>
        </p:txBody>
      </p:sp>
      <p:sp>
        <p:nvSpPr>
          <p:cNvPr id="3" name="agent-lead">
            <a:extLst>
              <a:ext uri="{FF2B5EF4-FFF2-40B4-BE49-F238E27FC236}">
                <a16:creationId xmlns:a16="http://schemas.microsoft.com/office/drawing/2014/main" id="{DDF451FF-D447-430D-B469-1D1DD300A528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061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Describe your question and data. The agent can draft the code.</a:t>
            </a:r>
          </a:p>
        </p:txBody>
      </p:sp>
      <p:sp>
        <p:nvSpPr>
          <p:cNvPr id="4" name="agent-steps">
            <a:extLst>
              <a:ext uri="{FF2B5EF4-FFF2-40B4-BE49-F238E27FC236}">
                <a16:creationId xmlns:a16="http://schemas.microsoft.com/office/drawing/2014/main" id="{6554EA71-2419-46BC-B401-F69EC74161E7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0858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1. Describe the question, data, and output you want.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2. Ask the agent to explain its plan and each analysis step.</a:t>
            </a:r>
          </a:p>
          <a:p>
            <a:endParaRPr sz="2100" b="0" dirty="0">
              <a:solidFill>
                <a:srgbClr val="18232D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3. Read the code, run it, and check the results.</a:t>
            </a:r>
          </a:p>
        </p:txBody>
      </p:sp>
      <p:sp>
        <p:nvSpPr>
          <p:cNvPr id="5" name="agent-responsibility">
            <a:extLst>
              <a:ext uri="{FF2B5EF4-FFF2-40B4-BE49-F238E27FC236}">
                <a16:creationId xmlns:a16="http://schemas.microsoft.com/office/drawing/2014/main" id="{6A930BF0-C41A-4EA8-9ADF-BACEB1490790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You can follow the logic without memorizing every command.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232D"/>
                </a:solidFill>
                <a:latin typeface="Bitstream Charter"/>
                <a:ea typeface="Bitstream Charter"/>
                <a:cs typeface="Bitstream Charter"/>
              </a:rPr>
              <a:t>You remain responsible for whether the analysis is appropriate.</a:t>
            </a:r>
          </a:p>
        </p:txBody>
      </p:sp>
      <p:sp>
        <p:nvSpPr>
          <p:cNvPr id="6" name="agent-invitation">
            <a:extLst>
              <a:ext uri="{FF2B5EF4-FFF2-40B4-BE49-F238E27FC236}">
                <a16:creationId xmlns:a16="http://schemas.microsoft.com/office/drawing/2014/main" id="{30BDA998-A865-47BC-9F88-B7E9DB89D6D5}"/>
              </a:ext>
            </a:extLst>
          </p:cNvPr>
          <p:cNvSpPr>
            <a:spLocks noGrp="1"/>
          </p:cNvSpPr>
          <p:nvPr/>
        </p:nvSpPr>
        <p:spPr>
          <a:xfrm>
            <a:off x="742950" y="6000750"/>
            <a:ext cx="1085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3F46"/>
                </a:solidFill>
                <a:latin typeface="Bitstream Charter"/>
                <a:ea typeface="Bitstream Charter"/>
                <a:cs typeface="Bitstream Charter"/>
              </a:rPr>
              <a:t>Try a plot or analysis of your choice.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334750" y="647700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lnSpc>
                <a:spcPct val="115000"/>
              </a:lnSpc>
              <a:buNone/>
              <a:defRPr sz="1200" b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defRPr>
            </a:pPr>
            <a:fld id="{5798BA23-F73B-5E6B-9E01-67B18885A9FE}" type="slidenum">
              <a:rPr lang="en-US" sz="1200" dirty="0" smtClean="0">
                <a:solidFill>
                  <a:srgbClr val="718080"/>
                </a:solidFill>
                <a:latin typeface="Bitstream Charter"/>
                <a:ea typeface="Bitstream Charter"/>
                <a:cs typeface="Bitstream Charter"/>
              </a:rPr>
              <a:t>39</a:t>
            </a:fld>
            <a:endParaRPr lang="en-US" sz="1200" dirty="0">
              <a:solidFill>
                <a:srgbClr val="718080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21415864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5108</TotalTime>
  <Words>2801</Words>
  <Application>Microsoft Macintosh PowerPoint</Application>
  <DocSecurity>0</DocSecurity>
  <PresentationFormat>Widescreen</PresentationFormat>
  <Paragraphs>403</Paragraphs>
  <Slides>39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Bitstream Charter</vt:lpstr>
      <vt:lpstr>DejaVu Sans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Luis Morales</cp:lastModifiedBy>
  <cp:revision>27</cp:revision>
  <dcterms:created xsi:type="dcterms:W3CDTF">2026-10-15T16:02:11Z</dcterms:created>
  <dcterms:modified xsi:type="dcterms:W3CDTF">2026-10-23T15:25:10Z</dcterms:modified>
</cp:coreProperties>
</file>